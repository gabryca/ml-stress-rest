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Poppins Medium" panose="00000600000000000000" pitchFamily="2" charset="0"/>
      <p:regular r:id="rId30"/>
      <p:bold r:id="rId31"/>
      <p:italic r:id="rId32"/>
      <p:boldItalic r:id="rId33"/>
    </p:embeddedFont>
    <p:embeddedFont>
      <p:font typeface="Poppins SemiBold" panose="000007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420689-7505-438F-932B-000085F4ABB9}">
  <a:tblStyle styleId="{DA420689-7505-438F-932B-000085F4AB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278" y="9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viewProps" Target="view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10501" y="2591841"/>
            <a:ext cx="7970996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Rilevamento </a:t>
            </a:r>
            <a:r>
              <a:rPr lang="en-US" sz="4800" b="0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dello</a:t>
            </a:r>
            <a:r>
              <a:rPr lang="en-US" sz="48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4800" b="0" i="0" u="none" strike="noStrike" cap="none" dirty="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Stress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300287" y="3452812"/>
            <a:ext cx="7591500" cy="111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Machine Learning con Dati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Empatica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E4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Progetto di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Interfacce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Uomo-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Macchina</a:t>
            </a:r>
            <a:endParaRPr sz="1650" b="0" i="0" u="none" strike="noStrike" cap="none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Gabriele Caretti Mat. 756564</a:t>
            </a:r>
            <a:endParaRPr sz="165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Obiettivi del Progetto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4">
            <a:alphaModFix/>
          </a:blip>
          <a:srcRect l="8528" r="8519"/>
          <a:stretch/>
        </p:blipFill>
        <p:spPr>
          <a:xfrm>
            <a:off x="7781250" y="1205925"/>
            <a:ext cx="2928937" cy="393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051637"/>
            <a:ext cx="5286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Sviluppare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pipeline di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elaborazione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distinguere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gli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stati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psicofisiologici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(Stress v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Riposo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909292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classificazione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biometrici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acquisiti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tempo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tramite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sensori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indossabili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multisensoriali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Empatica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E4).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891445"/>
            <a:ext cx="5286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Vengono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impiegati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modelli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Machine Learning 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addestrare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modello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il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più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accurato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possibile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7515"/>
            <a:ext cx="5286375" cy="349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77516"/>
            <a:ext cx="5286375" cy="349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62025" y="2668041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Riferimento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2100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(Baseline)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3210966"/>
            <a:ext cx="45054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Il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modello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è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asato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sul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paper 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"A Method for Stress Detection Using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Empatica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E4"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(Campanella et al., 2023). 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Nel paper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viene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proposto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l’utilizzo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pipeline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utilizzando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solamente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due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segnali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(EDA e PPG). La loro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accuratezza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massima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dichiarata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è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stata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76,5%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Utilizzando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Random Forest).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6724650" y="2668041"/>
            <a:ext cx="473059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Limiti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6724650" y="3210966"/>
            <a:ext cx="45054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Il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modello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paper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soffre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sbilanciamento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 dataset (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campioni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stress rispetto 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quelli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riposo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Questo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può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essere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migliorato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(per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esempio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)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utilizzo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di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RusBoost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che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si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comportano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meglio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con dataset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sbilanciati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.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Analisi del </a:t>
            </a: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Paper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9875"/>
            <a:ext cx="3492550" cy="38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800" y="2289875"/>
            <a:ext cx="3492550" cy="38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100" y="2289876"/>
            <a:ext cx="3492550" cy="38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8514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66775" y="3442394"/>
            <a:ext cx="135016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BVP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866775" y="3985319"/>
            <a:ext cx="29019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Monitoraggio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della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Pulsazione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 Volume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Sanguigno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(BVP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), con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frequenza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64 Hz.</a:t>
            </a:r>
            <a:endParaRPr dirty="0"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58514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4645074" y="3442394"/>
            <a:ext cx="14001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4645074" y="3985319"/>
            <a:ext cx="29019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Monitoraggio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dell’a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ttività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elettrodermica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(EDA), con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frequenza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4 Hz (poi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ricampionata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64)</a:t>
            </a:r>
            <a:endParaRPr dirty="0"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58514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423374" y="3442394"/>
            <a:ext cx="171021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TEMP &amp; ACC</a:t>
            </a:r>
            <a:endParaRPr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8423375" y="3985326"/>
            <a:ext cx="29019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Monitoraggio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della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temperatura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movimenti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tramite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accelerometro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arricchire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 feature.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(Solo in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alcune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versioni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sperimentali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)</a:t>
            </a:r>
            <a:endParaRPr dirty="0"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9650" y="27280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11762" y="272801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37686" y="2728019"/>
            <a:ext cx="2381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Il Dataset (Empatica E4)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571500" y="4124325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4429125"/>
            <a:ext cx="278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1° Task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Lego libero</a:t>
            </a:r>
            <a:endParaRPr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4886325"/>
            <a:ext cx="265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minuti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20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ssemblaggio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pezzi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Lego 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senza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istruzioni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20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lieve</a:t>
            </a:r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stress </a:t>
            </a:r>
            <a:r>
              <a:rPr lang="en-US" sz="120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cognitivo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3370510" y="2769989"/>
            <a:ext cx="278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2° Task: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Lego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Guidato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3370510" y="3227189"/>
            <a:ext cx="265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minuti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20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ssemblaggio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Lego con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istruzioni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Pressione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temporale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6169521" y="4429125"/>
            <a:ext cx="278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3° e 4° Task</a:t>
            </a:r>
            <a:r>
              <a:rPr lang="en-US" sz="165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Matematica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169521" y="4886325"/>
            <a:ext cx="26517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Calcoli matematici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senza limiti di tempo (Stress mentale elevato).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968531" y="2769989"/>
            <a:ext cx="278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5° Task</a:t>
            </a:r>
            <a:r>
              <a:rPr lang="en-US" sz="165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Esposizione CV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968531" y="3227189"/>
            <a:ext cx="26517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 min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uto di p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resentazione orale del curriculum (Stress sociale).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1783035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582045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381056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10180066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Protocollo Sperimentale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Pipeline di Elaborazione</a:t>
            </a:r>
            <a:endParaRPr/>
          </a:p>
        </p:txBody>
      </p:sp>
      <p:pic>
        <p:nvPicPr>
          <p:cNvPr id="2" name="Google Shape;116;p16" descr="image.png">
            <a:extLst>
              <a:ext uri="{FF2B5EF4-FFF2-40B4-BE49-F238E27FC236}">
                <a16:creationId xmlns:a16="http://schemas.microsoft.com/office/drawing/2014/main" id="{7E2E3B5A-D2FA-76F2-F6F8-AB78827A70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14500"/>
            <a:ext cx="3492550" cy="38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0;p16">
            <a:extLst>
              <a:ext uri="{FF2B5EF4-FFF2-40B4-BE49-F238E27FC236}">
                <a16:creationId xmlns:a16="http://schemas.microsoft.com/office/drawing/2014/main" id="{E83B7F86-DE31-8B6B-49F3-05653EF769FD}"/>
              </a:ext>
            </a:extLst>
          </p:cNvPr>
          <p:cNvSpPr txBox="1"/>
          <p:nvPr/>
        </p:nvSpPr>
        <p:spPr>
          <a:xfrm>
            <a:off x="866775" y="2867019"/>
            <a:ext cx="135016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Filtraggio</a:t>
            </a:r>
            <a:endParaRPr dirty="0"/>
          </a:p>
        </p:txBody>
      </p:sp>
      <p:sp>
        <p:nvSpPr>
          <p:cNvPr id="4" name="Google Shape;121;p16">
            <a:extLst>
              <a:ext uri="{FF2B5EF4-FFF2-40B4-BE49-F238E27FC236}">
                <a16:creationId xmlns:a16="http://schemas.microsoft.com/office/drawing/2014/main" id="{969CDC16-4633-AF29-5A27-6AAA6DE3B85B}"/>
              </a:ext>
            </a:extLst>
          </p:cNvPr>
          <p:cNvSpPr txBox="1"/>
          <p:nvPr/>
        </p:nvSpPr>
        <p:spPr>
          <a:xfrm>
            <a:off x="866775" y="3409944"/>
            <a:ext cx="29019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Pulizia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segnali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PPG ed EDA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grezzi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 dataset e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segmentazione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finestre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temporali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 1 minute 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isolare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task.</a:t>
            </a:r>
            <a:endParaRPr dirty="0"/>
          </a:p>
        </p:txBody>
      </p:sp>
      <p:pic>
        <p:nvPicPr>
          <p:cNvPr id="6" name="Google Shape;116;p16" descr="image.png">
            <a:extLst>
              <a:ext uri="{FF2B5EF4-FFF2-40B4-BE49-F238E27FC236}">
                <a16:creationId xmlns:a16="http://schemas.microsoft.com/office/drawing/2014/main" id="{53386C4C-3FE9-A209-BF4A-1F1C155321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0631" y="1696915"/>
            <a:ext cx="3492550" cy="38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0;p16">
            <a:extLst>
              <a:ext uri="{FF2B5EF4-FFF2-40B4-BE49-F238E27FC236}">
                <a16:creationId xmlns:a16="http://schemas.microsoft.com/office/drawing/2014/main" id="{68CB0EAF-6943-9272-CAB7-6F4D3C22C685}"/>
              </a:ext>
            </a:extLst>
          </p:cNvPr>
          <p:cNvSpPr txBox="1"/>
          <p:nvPr/>
        </p:nvSpPr>
        <p:spPr>
          <a:xfrm>
            <a:off x="4804018" y="2867019"/>
            <a:ext cx="264829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Estrazione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Features</a:t>
            </a:r>
            <a:endParaRPr lang="en-US" dirty="0"/>
          </a:p>
        </p:txBody>
      </p:sp>
      <p:sp>
        <p:nvSpPr>
          <p:cNvPr id="8" name="Google Shape;121;p16">
            <a:extLst>
              <a:ext uri="{FF2B5EF4-FFF2-40B4-BE49-F238E27FC236}">
                <a16:creationId xmlns:a16="http://schemas.microsoft.com/office/drawing/2014/main" id="{7E3A70AE-E8EE-6DC6-34CC-EF6EFDA82872}"/>
              </a:ext>
            </a:extLst>
          </p:cNvPr>
          <p:cNvSpPr txBox="1"/>
          <p:nvPr/>
        </p:nvSpPr>
        <p:spPr>
          <a:xfrm>
            <a:off x="4804018" y="3409944"/>
            <a:ext cx="29019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Estrazione delle features per fornire al modello una rappresentazione chiara del segnale e dei dati su cui lavorare.</a:t>
            </a:r>
            <a:endParaRPr lang="it-IT" dirty="0"/>
          </a:p>
        </p:txBody>
      </p:sp>
      <p:pic>
        <p:nvPicPr>
          <p:cNvPr id="10" name="Google Shape;116;p16" descr="image.png">
            <a:extLst>
              <a:ext uri="{FF2B5EF4-FFF2-40B4-BE49-F238E27FC236}">
                <a16:creationId xmlns:a16="http://schemas.microsoft.com/office/drawing/2014/main" id="{71E9812B-4213-C80C-1FE5-14DCE739AB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9875" y="1714500"/>
            <a:ext cx="3492550" cy="38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0;p16">
            <a:extLst>
              <a:ext uri="{FF2B5EF4-FFF2-40B4-BE49-F238E27FC236}">
                <a16:creationId xmlns:a16="http://schemas.microsoft.com/office/drawing/2014/main" id="{FB6536E3-7B7C-8567-5AA1-01A75D25AF79}"/>
              </a:ext>
            </a:extLst>
          </p:cNvPr>
          <p:cNvSpPr txBox="1"/>
          <p:nvPr/>
        </p:nvSpPr>
        <p:spPr>
          <a:xfrm>
            <a:off x="8708975" y="2867019"/>
            <a:ext cx="20703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Classificazione</a:t>
            </a:r>
            <a:endParaRPr dirty="0"/>
          </a:p>
        </p:txBody>
      </p:sp>
      <p:sp>
        <p:nvSpPr>
          <p:cNvPr id="12" name="Google Shape;121;p16">
            <a:extLst>
              <a:ext uri="{FF2B5EF4-FFF2-40B4-BE49-F238E27FC236}">
                <a16:creationId xmlns:a16="http://schemas.microsoft.com/office/drawing/2014/main" id="{BF99D06E-AFEB-D1DE-8EB4-5A7876261D6F}"/>
              </a:ext>
            </a:extLst>
          </p:cNvPr>
          <p:cNvSpPr txBox="1"/>
          <p:nvPr/>
        </p:nvSpPr>
        <p:spPr>
          <a:xfrm>
            <a:off x="8708976" y="3409944"/>
            <a:ext cx="29019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Addrestramento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dei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modelli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(Con Random Forest – RF e SVM)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utilizzando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10-Fold CV 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distinguere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tra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stato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di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Riposo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(Rest) e Stress.</a:t>
            </a:r>
            <a:endParaRPr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380217F-B202-C238-B49D-E9AA263CC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2066919"/>
            <a:ext cx="466725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5EDEF66-74AA-36CE-62E8-C3B20354B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018" y="2066919"/>
            <a:ext cx="45720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7D5394C-92EC-6CAA-D974-245FD0B42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975" y="2066919"/>
            <a:ext cx="466725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5713" y="591915"/>
            <a:ext cx="5452249" cy="25864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01438" y="1196784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Segnale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BVP (</a:t>
            </a: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Fotopletismografia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571424" y="4160344"/>
            <a:ext cx="5286375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Segnale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EDA (</a:t>
            </a: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Attività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Elettrodermica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882438" y="1584069"/>
            <a:ext cx="4914900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Filtraggio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Passa-Banda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(range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0.5 - 5 Hz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tramite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filtro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Chebyshev II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4°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ordine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), con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attenuazione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di 20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dB.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Ca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lcolo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della prima e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seconda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derivate del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segnale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Rilevamento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Picchi (con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distanza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mini 0.4s)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Calcolo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delle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distanze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picco-picco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Scarto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segmenti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con intervalli anomaly (al di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fuori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del 15%)</a:t>
            </a:r>
            <a:endParaRPr lang="en-US" sz="1350" b="0" i="0" u="none" strike="noStrike" cap="none" dirty="0">
              <a:solidFill>
                <a:schemeClr val="bg1">
                  <a:lumMod val="8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952499" y="4447925"/>
            <a:ext cx="49053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Ricampionamento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da 4 a 64 Hz.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Smoothing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tramite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filtro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Gaussiano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passa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-basso (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finestra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da 40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punti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, sigma 400ms).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350" dirty="0">
              <a:solidFill>
                <a:schemeClr val="bg1">
                  <a:lumMod val="8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350" b="0" i="0" u="none" strike="noStrike" cap="none" dirty="0">
              <a:solidFill>
                <a:schemeClr val="bg1">
                  <a:lumMod val="8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Preprocessing </a:t>
            </a:r>
            <a:r>
              <a:rPr lang="en-US" sz="300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Segnali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1649526-8FBF-F96B-D12C-018A74A1B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020" y="677342"/>
            <a:ext cx="5355942" cy="241559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A48C4B3-FAD5-DCA2-2DD8-890A05DA5C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490" y="3506208"/>
            <a:ext cx="5369534" cy="2386460"/>
          </a:xfrm>
          <a:prstGeom prst="rect">
            <a:avLst/>
          </a:prstGeom>
        </p:spPr>
      </p:pic>
      <p:pic>
        <p:nvPicPr>
          <p:cNvPr id="6" name="Google Shape;170;p19" descr="image.png">
            <a:extLst>
              <a:ext uri="{FF2B5EF4-FFF2-40B4-BE49-F238E27FC236}">
                <a16:creationId xmlns:a16="http://schemas.microsoft.com/office/drawing/2014/main" id="{EA2D10FB-101C-177B-A6FA-8C6A6FC0B0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8775" y="3427594"/>
            <a:ext cx="5452249" cy="2586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2650"/>
            <a:ext cx="3492549" cy="380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52650"/>
            <a:ext cx="3492549" cy="380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52650"/>
            <a:ext cx="3492549" cy="380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479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866775" y="3305175"/>
            <a:ext cx="17502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Overlapping</a:t>
            </a:r>
            <a:endParaRPr dirty="0"/>
          </a:p>
        </p:txBody>
      </p:sp>
      <p:sp>
        <p:nvSpPr>
          <p:cNvPr id="193" name="Google Shape;193;p20"/>
          <p:cNvSpPr txBox="1"/>
          <p:nvPr/>
        </p:nvSpPr>
        <p:spPr>
          <a:xfrm>
            <a:off x="866775" y="3848100"/>
            <a:ext cx="29019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Introdotto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uno step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di 30 secondi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sulle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finestre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di 60 per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raddoppiare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il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numero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dei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campioni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rilevare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eventuali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passaggi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stato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(solo in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varianti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main ed exp, e senza data leakage in exp con LOSO)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94" name="Google Shape;19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4479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4645074" y="3305175"/>
            <a:ext cx="19502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Sensor Fusion</a:t>
            </a:r>
            <a:endParaRPr dirty="0"/>
          </a:p>
        </p:txBody>
      </p:sp>
      <p:sp>
        <p:nvSpPr>
          <p:cNvPr id="196" name="Google Shape;196;p20"/>
          <p:cNvSpPr txBox="1"/>
          <p:nvPr/>
        </p:nvSpPr>
        <p:spPr>
          <a:xfrm>
            <a:off x="4645075" y="3848100"/>
            <a:ext cx="29019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Inclusione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delle derivate BVP,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Temperatura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superficiale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periferica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filtrata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mediamente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dati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accelerometro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movimenti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4479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8275761" y="3267417"/>
            <a:ext cx="319712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RUSBoost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e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GentleBoost</a:t>
            </a:r>
            <a:endParaRPr dirty="0"/>
          </a:p>
        </p:txBody>
      </p:sp>
      <p:sp>
        <p:nvSpPr>
          <p:cNvPr id="199" name="Google Shape;199;p20"/>
          <p:cNvSpPr txBox="1"/>
          <p:nvPr/>
        </p:nvSpPr>
        <p:spPr>
          <a:xfrm>
            <a:off x="8423374" y="3848100"/>
            <a:ext cx="29019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Per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mitigare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lo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sbilanciamento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del dataset, è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stato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utilizzato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l'algoritmo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RUSBoost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nell’Ensemble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Random Forest e K-Fold,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mentre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LOSO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nella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variante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GentleBoost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5837" y="25908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87949" y="25908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18624" y="25908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71500" y="571500"/>
            <a:ext cx="1104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Miglioramenti</a:t>
            </a:r>
            <a:r>
              <a:rPr lang="en-US" sz="3000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rispetto al Paper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21"/>
          <p:cNvGraphicFramePr/>
          <p:nvPr>
            <p:extLst>
              <p:ext uri="{D42A27DB-BD31-4B8C-83A1-F6EECF244321}">
                <p14:modId xmlns:p14="http://schemas.microsoft.com/office/powerpoint/2010/main" val="4070067608"/>
              </p:ext>
            </p:extLst>
          </p:nvPr>
        </p:nvGraphicFramePr>
        <p:xfrm>
          <a:off x="571500" y="1896516"/>
          <a:ext cx="11049000" cy="4017500"/>
        </p:xfrm>
        <a:graphic>
          <a:graphicData uri="http://schemas.openxmlformats.org/drawingml/2006/table">
            <a:tbl>
              <a:tblPr firstRow="1" bandRow="1">
                <a:noFill/>
                <a:tableStyleId>{DA420689-7505-438F-932B-000085F4ABB9}</a:tableStyleId>
              </a:tblPr>
              <a:tblGrid>
                <a:gridCol w="197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Segnale</a:t>
                      </a:r>
                      <a:r>
                        <a:rPr lang="en-US" sz="1500" b="0" dirty="0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/</a:t>
                      </a:r>
                      <a:r>
                        <a:rPr lang="en-US" sz="1500" b="0" i="0" u="none" strike="noStrike" cap="none" dirty="0" err="1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Sensore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Dominio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Feature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BVP / PPG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Statistico</a:t>
                      </a:r>
                      <a:r>
                        <a:rPr lang="en-US" sz="135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Tempo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Media/</a:t>
                      </a:r>
                      <a:r>
                        <a:rPr lang="en-US" sz="1350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Deviazione</a:t>
                      </a:r>
                      <a:r>
                        <a:rPr lang="en-US" sz="135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Standard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PPI, Mean HR, </a:t>
                      </a:r>
                      <a:r>
                        <a:rPr lang="en-US" sz="1350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Deviazione</a:t>
                      </a:r>
                      <a:r>
                        <a:rPr lang="en-US" sz="135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Standard 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HR, RMSSD, SD2, Derivate (d1, d2)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EDA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Statistico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Eventi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50" b="0" i="0" u="none" strike="noStrike" cap="none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Media,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Deviazione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Standard,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Numero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di Picchi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Fasici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(SCR),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Ampiezza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Media SCR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Temperatura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Statistico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termica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Deviazione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Standard,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Coefficiente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Angolare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(Slope) del trend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Accelerometro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Cinematico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/Moto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 della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Magnitudo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3D,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Deviazione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Standard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dei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movimenti</a:t>
                      </a:r>
                      <a:endParaRPr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0" name="Google Shape;210;p21"/>
          <p:cNvSpPr/>
          <p:nvPr/>
        </p:nvSpPr>
        <p:spPr>
          <a:xfrm>
            <a:off x="571500" y="2839491"/>
            <a:ext cx="197837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549872" y="2839491"/>
            <a:ext cx="232246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872335" y="2839491"/>
            <a:ext cx="674816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71500" y="3674278"/>
            <a:ext cx="19783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549872" y="3674278"/>
            <a:ext cx="23224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872335" y="3674278"/>
            <a:ext cx="67481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71500" y="4518590"/>
            <a:ext cx="197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549872" y="4518590"/>
            <a:ext cx="2322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872335" y="4518590"/>
            <a:ext cx="674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1500" y="5282505"/>
            <a:ext cx="19783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549872" y="5282505"/>
            <a:ext cx="23224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872335" y="5282505"/>
            <a:ext cx="67481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Estrazione delle Feature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23244"/>
            <a:ext cx="5286375" cy="265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23244"/>
            <a:ext cx="5286375" cy="256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806768" y="3013768"/>
            <a:ext cx="495585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RUSBoost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(Ensemble) e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GentleBoost</a:t>
            </a:r>
            <a:endParaRPr dirty="0"/>
          </a:p>
        </p:txBody>
      </p:sp>
      <p:sp>
        <p:nvSpPr>
          <p:cNvPr id="231" name="Google Shape;231;p22"/>
          <p:cNvSpPr txBox="1"/>
          <p:nvPr/>
        </p:nvSpPr>
        <p:spPr>
          <a:xfrm>
            <a:off x="806767" y="3524671"/>
            <a:ext cx="4875576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it-IT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asato su un grande numero di alberi decisionali. Implementato utilizzando </a:t>
            </a:r>
            <a:r>
              <a:rPr lang="it-IT" sz="1350" b="1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RUSBoost</a:t>
            </a:r>
            <a:r>
              <a:rPr lang="it-IT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con 100 cicli di apprendimento per gestire </a:t>
            </a:r>
            <a:r>
              <a:rPr lang="it-IT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lo sbilanciamento </a:t>
            </a:r>
            <a:r>
              <a:rPr lang="it-IT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tra le etichette di riposo e stress (e anche LOSO con </a:t>
            </a:r>
            <a:r>
              <a:rPr lang="it-IT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GentleBoost</a:t>
            </a:r>
            <a:r>
              <a:rPr lang="it-IT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lang="it-IT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6724650" y="3013769"/>
            <a:ext cx="473059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Support Vector Machine (SVM)</a:t>
            </a:r>
            <a:endParaRPr dirty="0"/>
          </a:p>
        </p:txBody>
      </p:sp>
      <p:sp>
        <p:nvSpPr>
          <p:cNvPr id="233" name="Google Shape;233;p22"/>
          <p:cNvSpPr txBox="1"/>
          <p:nvPr/>
        </p:nvSpPr>
        <p:spPr>
          <a:xfrm>
            <a:off x="6724650" y="3556700"/>
            <a:ext cx="45054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Implementazione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con Kernel RBF (Radial Basis Function) e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BoxConstraint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pari a 10. SVM è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n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tipo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trasformazione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molto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efficace</a:t>
            </a:r>
            <a:r>
              <a:rPr lang="en-US" sz="1350" b="0" i="0" u="none" strike="noStrike" cap="none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segnali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fisiologici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Modelli di Classificazione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23875" y="1309882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78.8%</a:t>
            </a:r>
            <a:endParaRPr dirty="0"/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2697276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ACCURATEZZA GLOBALE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6201890" y="1222400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Performance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dell'Ensemble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RUSBoost</a:t>
            </a:r>
            <a:endParaRPr dirty="0"/>
          </a:p>
        </p:txBody>
      </p:sp>
      <p:sp>
        <p:nvSpPr>
          <p:cNvPr id="243" name="Google Shape;243;p23"/>
          <p:cNvSpPr txBox="1"/>
          <p:nvPr/>
        </p:nvSpPr>
        <p:spPr>
          <a:xfrm>
            <a:off x="6201965" y="1604665"/>
            <a:ext cx="5286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Tramite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RUSBoost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, il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risultato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accuratezza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globale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ha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raggiunto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superato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quello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del paper (baseline)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6201890" y="2323327"/>
            <a:ext cx="528637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Precisione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(Stress):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84.8%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Recall (</a:t>
            </a: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Sensibilità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81.9%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F1-Score: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83.3%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6201965" y="3125089"/>
            <a:ext cx="5286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Tuttavia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soffre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350" b="0" i="1" u="none" strike="noStrike" cap="none" dirty="0">
                <a:solidFill>
                  <a:schemeClr val="accent2">
                    <a:lumMod val="60000"/>
                    <a:lumOff val="4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DATA LEAKAGE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! La </a:t>
            </a: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variante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sicura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senza leakage ha </a:t>
            </a: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accuratezza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del 70%.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Risultati</a:t>
            </a:r>
            <a:r>
              <a:rPr lang="en-US" sz="300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</a:t>
            </a:r>
            <a:r>
              <a:rPr lang="en-US" sz="3000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RF </a:t>
            </a:r>
            <a:r>
              <a:rPr lang="en-US" sz="3000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RUSBoost</a:t>
            </a:r>
            <a:r>
              <a:rPr lang="en-US" sz="3000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e RF </a:t>
            </a:r>
            <a:r>
              <a:rPr lang="en-US" sz="3000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GentleBoost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Google Shape;240;p23">
            <a:extLst>
              <a:ext uri="{FF2B5EF4-FFF2-40B4-BE49-F238E27FC236}">
                <a16:creationId xmlns:a16="http://schemas.microsoft.com/office/drawing/2014/main" id="{90807F2A-9490-291D-40DE-FEBF1C7779FD}"/>
              </a:ext>
            </a:extLst>
          </p:cNvPr>
          <p:cNvSpPr txBox="1"/>
          <p:nvPr/>
        </p:nvSpPr>
        <p:spPr>
          <a:xfrm>
            <a:off x="523875" y="4290805"/>
            <a:ext cx="52863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70.8%</a:t>
            </a:r>
            <a:endParaRPr dirty="0"/>
          </a:p>
        </p:txBody>
      </p:sp>
      <p:sp>
        <p:nvSpPr>
          <p:cNvPr id="3" name="Google Shape;241;p23">
            <a:extLst>
              <a:ext uri="{FF2B5EF4-FFF2-40B4-BE49-F238E27FC236}">
                <a16:creationId xmlns:a16="http://schemas.microsoft.com/office/drawing/2014/main" id="{AEA90460-57D8-D9C5-6C3C-6D0C6B9BF7F8}"/>
              </a:ext>
            </a:extLst>
          </p:cNvPr>
          <p:cNvSpPr txBox="1"/>
          <p:nvPr/>
        </p:nvSpPr>
        <p:spPr>
          <a:xfrm>
            <a:off x="571500" y="5678199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ACCURATEZZA GLOBALE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Google Shape;242;p23">
            <a:extLst>
              <a:ext uri="{FF2B5EF4-FFF2-40B4-BE49-F238E27FC236}">
                <a16:creationId xmlns:a16="http://schemas.microsoft.com/office/drawing/2014/main" id="{3F3C09EF-72D2-BAD9-9474-604CA3CB186C}"/>
              </a:ext>
            </a:extLst>
          </p:cNvPr>
          <p:cNvSpPr txBox="1"/>
          <p:nvPr/>
        </p:nvSpPr>
        <p:spPr>
          <a:xfrm>
            <a:off x="6201890" y="4203323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Performance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GentleBoost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con LOSO</a:t>
            </a:r>
            <a:endParaRPr dirty="0"/>
          </a:p>
        </p:txBody>
      </p:sp>
      <p:sp>
        <p:nvSpPr>
          <p:cNvPr id="5" name="Google Shape;243;p23">
            <a:extLst>
              <a:ext uri="{FF2B5EF4-FFF2-40B4-BE49-F238E27FC236}">
                <a16:creationId xmlns:a16="http://schemas.microsoft.com/office/drawing/2014/main" id="{4D28F712-FAEF-E2C4-06C6-7A37486AE986}"/>
              </a:ext>
            </a:extLst>
          </p:cNvPr>
          <p:cNvSpPr txBox="1"/>
          <p:nvPr/>
        </p:nvSpPr>
        <p:spPr>
          <a:xfrm>
            <a:off x="6201965" y="4585588"/>
            <a:ext cx="52863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Tramite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GentleBoost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, il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risultato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avvicina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al paper (baseline)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Google Shape;244;p23">
            <a:extLst>
              <a:ext uri="{FF2B5EF4-FFF2-40B4-BE49-F238E27FC236}">
                <a16:creationId xmlns:a16="http://schemas.microsoft.com/office/drawing/2014/main" id="{B2383452-624F-8D4B-7A84-7FE5859342AA}"/>
              </a:ext>
            </a:extLst>
          </p:cNvPr>
          <p:cNvSpPr txBox="1"/>
          <p:nvPr/>
        </p:nvSpPr>
        <p:spPr>
          <a:xfrm>
            <a:off x="6201890" y="4982672"/>
            <a:ext cx="528637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Precisione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(Stress):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79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Recall (</a:t>
            </a: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Sensibilità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F1-Score: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80%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/>
        </p:nvSpPr>
        <p:spPr>
          <a:xfrm>
            <a:off x="571500" y="2246503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80.1%</a:t>
            </a:r>
            <a:endParaRPr dirty="0"/>
          </a:p>
        </p:txBody>
      </p:sp>
      <p:sp>
        <p:nvSpPr>
          <p:cNvPr id="253" name="Google Shape;253;p24"/>
          <p:cNvSpPr txBox="1"/>
          <p:nvPr/>
        </p:nvSpPr>
        <p:spPr>
          <a:xfrm>
            <a:off x="571500" y="3675253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ACCURATEZZA GLOBALE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6334125" y="2246503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Il </a:t>
            </a:r>
            <a:r>
              <a:rPr lang="en-US" sz="2100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odello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Migliore (in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questo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contesto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)</a:t>
            </a:r>
            <a:endParaRPr dirty="0"/>
          </a:p>
        </p:txBody>
      </p:sp>
      <p:sp>
        <p:nvSpPr>
          <p:cNvPr id="255" name="Google Shape;255;p24"/>
          <p:cNvSpPr txBox="1"/>
          <p:nvPr/>
        </p:nvSpPr>
        <p:spPr>
          <a:xfrm>
            <a:off x="6334113" y="2682513"/>
            <a:ext cx="52863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L'algoritmo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SVM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mappato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in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Kernel RBF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riconosce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meglio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pattern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più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complessi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rispetto a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RUSBoost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(ha un Recall dell’86,6% rispetto all’81.9%),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tuttavia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ha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precisione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minore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sullo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Stress (83,4%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contro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84,8%)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Infine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l’accuratezza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globale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è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mediamente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più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alta.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6334113" y="4457352"/>
            <a:ext cx="5286300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Precisione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(Stress):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83.4%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Recall (</a:t>
            </a: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Sensibilità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86.6%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F1-Score: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85.0%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Risultati</a:t>
            </a:r>
            <a:r>
              <a:rPr lang="en-US" sz="300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SVM (RBF Kernel)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" name="Google Shape;245;p23">
            <a:extLst>
              <a:ext uri="{FF2B5EF4-FFF2-40B4-BE49-F238E27FC236}">
                <a16:creationId xmlns:a16="http://schemas.microsoft.com/office/drawing/2014/main" id="{EC89CE9A-880C-EF8B-D470-2EC353755939}"/>
              </a:ext>
            </a:extLst>
          </p:cNvPr>
          <p:cNvSpPr txBox="1"/>
          <p:nvPr/>
        </p:nvSpPr>
        <p:spPr>
          <a:xfrm>
            <a:off x="571575" y="4196700"/>
            <a:ext cx="52863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Tuttavia, soffre di </a:t>
            </a:r>
            <a:r>
              <a:rPr lang="it-IT" sz="1350" b="0" i="1" u="none" strike="noStrike" cap="none" dirty="0">
                <a:solidFill>
                  <a:schemeClr val="accent2">
                    <a:lumMod val="60000"/>
                    <a:lumOff val="4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DATA LEAKAGE</a:t>
            </a:r>
            <a:r>
              <a:rPr lang="it-IT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! La variante sicura senza leakage ha accuratezza del 67%, in tal caso la variante con </a:t>
            </a:r>
            <a:r>
              <a:rPr lang="it-IT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GentleBoost</a:t>
            </a:r>
            <a:r>
              <a:rPr lang="it-IT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con LOSO diventa la migliore.</a:t>
            </a:r>
            <a:endParaRPr lang="it-IT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571500" y="5346972"/>
            <a:ext cx="110490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Come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dimostrato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, le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migliorie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apportate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nelle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fasi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di preprocessing e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di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estrazione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delle feature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hanno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permesso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incremento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tutti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modelli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valutati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rispetto al paper di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riferimento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 (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Anche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se la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variante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Migliore senza Data leakage, non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mostrata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, con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GentleBoost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e LOSO,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raggiunge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circa </a:t>
            </a:r>
            <a:r>
              <a:rPr lang="en-US" sz="1350" b="0" i="0" u="none" strike="noStrike" cap="none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il 70,8%)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Confronto</a:t>
            </a:r>
            <a:r>
              <a:rPr lang="en-US" sz="30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000" b="0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dei</a:t>
            </a:r>
            <a:r>
              <a:rPr lang="en-US" sz="30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000" b="0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Modelli</a:t>
            </a:r>
            <a:endParaRPr dirty="0"/>
          </a:p>
        </p:txBody>
      </p:sp>
      <p:pic>
        <p:nvPicPr>
          <p:cNvPr id="265" name="Google Shape;265;p25" title="graph.png"/>
          <p:cNvPicPr preferRelativeResize="0"/>
          <p:nvPr/>
        </p:nvPicPr>
        <p:blipFill rotWithShape="1">
          <a:blip r:embed="rId4">
            <a:alphaModFix/>
          </a:blip>
          <a:srcRect t="1886" b="1886"/>
          <a:stretch/>
        </p:blipFill>
        <p:spPr>
          <a:xfrm>
            <a:off x="2559200" y="1317575"/>
            <a:ext cx="7659425" cy="37450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1971600" y="1714500"/>
            <a:ext cx="8248800" cy="339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Tramite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l’integrazione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di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più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segnali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come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temperatura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e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movimento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è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stato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possibile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raggiungere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un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risultato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migliore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del paper di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riferimento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del 3,6%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6278550" y="5218208"/>
            <a:ext cx="5124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B0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</a:t>
            </a:r>
            <a:r>
              <a:rPr lang="en-US" sz="1800" dirty="0">
                <a:solidFill>
                  <a:srgbClr val="00B0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G.C. </a:t>
            </a:r>
            <a:r>
              <a:rPr lang="en-US" sz="1800" b="0" i="0" u="none" strike="noStrike" cap="none" dirty="0" err="1">
                <a:solidFill>
                  <a:srgbClr val="00B0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Interfacce</a:t>
            </a:r>
            <a:r>
              <a:rPr lang="en-US" sz="1800" b="0" i="0" u="none" strike="noStrike" cap="none" dirty="0">
                <a:solidFill>
                  <a:srgbClr val="00B0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Uomo-</a:t>
            </a:r>
            <a:r>
              <a:rPr lang="en-US" sz="1800" b="0" i="0" u="none" strike="noStrike" cap="none" dirty="0" err="1">
                <a:solidFill>
                  <a:srgbClr val="00B0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Macchina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1304925" y="2277516"/>
            <a:ext cx="371475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10515600" y="5447255"/>
            <a:ext cx="371475" cy="1410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Conclusioni</a:t>
            </a:r>
            <a:r>
              <a:rPr lang="en-US" sz="300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e </a:t>
            </a:r>
            <a:r>
              <a:rPr lang="en-US" sz="300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Sviluppi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245;p23">
            <a:extLst>
              <a:ext uri="{FF2B5EF4-FFF2-40B4-BE49-F238E27FC236}">
                <a16:creationId xmlns:a16="http://schemas.microsoft.com/office/drawing/2014/main" id="{8C45CFFC-F599-2638-D0FE-AA7708CB3232}"/>
              </a:ext>
            </a:extLst>
          </p:cNvPr>
          <p:cNvSpPr txBox="1"/>
          <p:nvPr/>
        </p:nvSpPr>
        <p:spPr>
          <a:xfrm>
            <a:off x="278651" y="6352088"/>
            <a:ext cx="1060842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Tuttavia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, la </a:t>
            </a: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variante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GentleBoost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con LOSO, senza Data Leakage, </a:t>
            </a: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avvicina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ma non </a:t>
            </a: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raggiunge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1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ancora</a:t>
            </a:r>
            <a:r>
              <a:rPr lang="en-US" sz="1350" b="0" i="1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il paper di circa il 6,5%.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Altro – </a:t>
            </a:r>
            <a:r>
              <a:rPr lang="en-US" sz="3000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Esperimenti</a:t>
            </a:r>
            <a:r>
              <a:rPr lang="en-US" sz="3000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e screenshots</a:t>
            </a:r>
            <a:endParaRPr dirty="0"/>
          </a:p>
        </p:txBody>
      </p:sp>
      <p:sp>
        <p:nvSpPr>
          <p:cNvPr id="282" name="Google Shape;282;p27"/>
          <p:cNvSpPr txBox="1"/>
          <p:nvPr/>
        </p:nvSpPr>
        <p:spPr>
          <a:xfrm>
            <a:off x="571500" y="1350200"/>
            <a:ext cx="4287883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Utilizzo</a:t>
            </a:r>
            <a:r>
              <a:rPr lang="en-US" sz="135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di HR e IBI</a:t>
            </a:r>
            <a:endParaRPr sz="1350" b="1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Sono state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sperimentate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delle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implementazioni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l’ausilio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valori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misurati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HR (senza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derivarli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differentemente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dal paper) e IBI,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tuttavia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risultati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finali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erano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nettamente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inferiori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rispetto a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quelli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mostrati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precedenza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(Circa il 64% di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accuratezza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Risultati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simili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rispettando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filtri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quindi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sono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stati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adottati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altri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350" dirty="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7C588C3-6093-5D04-637C-77B80EAB4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995" y="1102555"/>
            <a:ext cx="4426423" cy="26304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D02567-1529-5595-B43E-822C849CE8D1}"/>
              </a:ext>
            </a:extLst>
          </p:cNvPr>
          <p:cNvSpPr txBox="1"/>
          <p:nvPr/>
        </p:nvSpPr>
        <p:spPr>
          <a:xfrm>
            <a:off x="5679145" y="3763191"/>
            <a:ext cx="484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Matrice di confusion finale con K-Fold (senza HR e IBI)</a:t>
            </a:r>
            <a:endParaRPr lang="it-IT" dirty="0"/>
          </a:p>
        </p:txBody>
      </p:sp>
      <p:sp>
        <p:nvSpPr>
          <p:cNvPr id="2" name="Google Shape;282;p27">
            <a:extLst>
              <a:ext uri="{FF2B5EF4-FFF2-40B4-BE49-F238E27FC236}">
                <a16:creationId xmlns:a16="http://schemas.microsoft.com/office/drawing/2014/main" id="{898DA238-2E6C-87D9-0684-DDFF77E0BA80}"/>
              </a:ext>
            </a:extLst>
          </p:cNvPr>
          <p:cNvSpPr txBox="1"/>
          <p:nvPr/>
        </p:nvSpPr>
        <p:spPr>
          <a:xfrm>
            <a:off x="571500" y="4513265"/>
            <a:ext cx="4287883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GentleBoost</a:t>
            </a:r>
            <a:r>
              <a:rPr lang="it-IT" sz="135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con LOSO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Sono state inoltre testate versioni con LOSO (</a:t>
            </a:r>
            <a:r>
              <a:rPr lang="it-IT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Leave</a:t>
            </a:r>
            <a:r>
              <a:rPr lang="it-IT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-One-Subject-Out), con </a:t>
            </a:r>
            <a:r>
              <a:rPr lang="it-IT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GentleBoost</a:t>
            </a:r>
            <a:r>
              <a:rPr lang="it-IT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 posto di </a:t>
            </a:r>
            <a:r>
              <a:rPr lang="it-IT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RusBoost</a:t>
            </a:r>
            <a:r>
              <a:rPr lang="it-IT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che non soffrono di Data Leakage ma raggiungono risultati non al livello del Paper.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EFC5A06-B844-15E6-F0F9-A6EAE5150CD7}"/>
              </a:ext>
            </a:extLst>
          </p:cNvPr>
          <p:cNvSpPr txBox="1"/>
          <p:nvPr/>
        </p:nvSpPr>
        <p:spPr>
          <a:xfrm>
            <a:off x="5991903" y="6490353"/>
            <a:ext cx="4223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Matrice di </a:t>
            </a:r>
            <a:r>
              <a:rPr lang="en-US" sz="14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confusione</a:t>
            </a:r>
            <a:r>
              <a:rPr lang="en-US" sz="14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4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GentleBoost</a:t>
            </a:r>
            <a:r>
              <a:rPr lang="en-US" sz="14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 LOSO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6A96034-F068-7441-D27D-728C13871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2792" y="4225541"/>
            <a:ext cx="5041640" cy="22374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1192</Words>
  <Application>Microsoft Office PowerPoint</Application>
  <PresentationFormat>Widescreen</PresentationFormat>
  <Paragraphs>110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3" baseType="lpstr">
      <vt:lpstr>Arial</vt:lpstr>
      <vt:lpstr>Poppins</vt:lpstr>
      <vt:lpstr>Inter SemiBold</vt:lpstr>
      <vt:lpstr>Poppins SemiBold</vt:lpstr>
      <vt:lpstr>Poppins Medium</vt:lpstr>
      <vt:lpstr>Inter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CARETTI GABRIELE</cp:lastModifiedBy>
  <cp:revision>28</cp:revision>
  <dcterms:modified xsi:type="dcterms:W3CDTF">2026-05-23T18:19:51Z</dcterms:modified>
</cp:coreProperties>
</file>