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Inter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  <p:embeddedFont>
      <p:font typeface="Poppins Medium" panose="00000600000000000000" pitchFamily="2" charset="0"/>
      <p:regular r:id="rId30"/>
      <p:bold r:id="rId31"/>
      <p:italic r:id="rId32"/>
      <p:boldItalic r:id="rId33"/>
    </p:embeddedFont>
    <p:embeddedFont>
      <p:font typeface="Poppins SemiBold" panose="000007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05" y="8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viewProps" Target="view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 </a:t>
            </a: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dello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051637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elaborazione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distinguere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psicofisiologici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(Stress v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743093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(Dataset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E4).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891445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possibile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5"/>
            <a:ext cx="5286375" cy="3490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4902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 paper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PPG). La loro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135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76,5%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2326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Questo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può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essere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migliorato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(per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esempio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)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l’estrazione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features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finestre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lunghezze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diverse (come da 60 a 30 secondi)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sym typeface="Inter"/>
              </a:rPr>
              <a:t>RusBoost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 / PPG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(PPG)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estrarre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variabilità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cardiaca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(HRV)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sistolici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(64Hz).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 / GSR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8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 dell’a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 elettrodermica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 nota anche come Risposta Galvanica Cutanea (GRS)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rilevare l'eccitazione del sistema nervoso simpatico (ricampionata da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64Hz).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feature.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Guidato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Matematica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809750" y="2362200"/>
            <a:ext cx="904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 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Preprocessing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Segnali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disturbi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rimozione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degli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artefatti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allineamento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1809750" y="2905125"/>
            <a:ext cx="90489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2)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Segmentazion</a:t>
            </a:r>
            <a:r>
              <a:rPr lang="en-US" sz="1500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Divisione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60 secondi con overlapping di 30 (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dell’algoritmo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“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sicuro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/safe”, non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effetturato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l’overlapping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evitare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Data Leak con K-Fold,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effettuato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comunque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anche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LOSO, con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mitigazioni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evitare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Data Leak e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altri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miglioramenti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1809600" y="4457700"/>
            <a:ext cx="904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Feature: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parametri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statistici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ciascuna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1809600" y="530542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4) Machine Learning: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Addestramento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validazione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500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10-Fold Cross-Validation,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bilanciamento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50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 vs Rest).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160" name="Google Shape;16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350" y="245530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350" y="3017043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29902" y="455080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29902" y="539853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5713" y="591915"/>
            <a:ext cx="5452249" cy="25864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209550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425" y="3910860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2482785"/>
            <a:ext cx="4914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Butterworth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arteriosa.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derivate del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00" y="4198441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Passa-Basso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rimuovere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rumore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ad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componente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Tonica (lenta)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Fasica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rapida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 Picchi (Skin Conductance Responses).</a:t>
            </a:r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1649526-8FBF-F96B-D12C-018A74A1B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020" y="677342"/>
            <a:ext cx="5355942" cy="24155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A48C4B3-FAD5-DCA2-2DD8-890A05DA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490" y="3506208"/>
            <a:ext cx="5369534" cy="2386460"/>
          </a:xfrm>
          <a:prstGeom prst="rect">
            <a:avLst/>
          </a:prstGeom>
        </p:spPr>
      </p:pic>
      <p:pic>
        <p:nvPicPr>
          <p:cNvPr id="6" name="Google Shape;170;p19" descr="image.png">
            <a:extLst>
              <a:ext uri="{FF2B5EF4-FFF2-40B4-BE49-F238E27FC236}">
                <a16:creationId xmlns:a16="http://schemas.microsoft.com/office/drawing/2014/main" id="{EA2D10FB-101C-177B-A6FA-8C6A6FC0B0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8775" y="3427594"/>
            <a:ext cx="5452249" cy="258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866775" y="3305175"/>
            <a:ext cx="17502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Overlapping</a:t>
            </a:r>
            <a:endParaRPr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866775" y="3848100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Introdotto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uno step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30 secondi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60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raddoppiare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numero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eventuali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passaggi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(solo in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main ed exp, e senza data leakage in exp con LOSO)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4" name="Google Shape;19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 txBox="1"/>
          <p:nvPr/>
        </p:nvSpPr>
        <p:spPr>
          <a:xfrm>
            <a:off x="4645074" y="3305175"/>
            <a:ext cx="19502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Sensor Fusion</a:t>
            </a:r>
            <a:endParaRPr dirty="0"/>
          </a:p>
        </p:txBody>
      </p:sp>
      <p:sp>
        <p:nvSpPr>
          <p:cNvPr id="196" name="Google Shape;196;p20"/>
          <p:cNvSpPr txBox="1"/>
          <p:nvPr/>
        </p:nvSpPr>
        <p:spPr>
          <a:xfrm>
            <a:off x="4645075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Inclusione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derivate BVP,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periferica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8275761" y="3267417"/>
            <a:ext cx="3197126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endParaRPr dirty="0"/>
          </a:p>
        </p:txBody>
      </p:sp>
      <p:sp>
        <p:nvSpPr>
          <p:cNvPr id="199" name="Google Shape;199;p20"/>
          <p:cNvSpPr txBox="1"/>
          <p:nvPr/>
        </p:nvSpPr>
        <p:spPr>
          <a:xfrm>
            <a:off x="8423374" y="3848100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dataset, è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utilizzato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nell’Ensemble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Random Forest e K-Fold,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mentre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LOSO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00" name="Google Shape;200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5837" y="25908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87949" y="25908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18624" y="259080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571500" y="571500"/>
            <a:ext cx="1104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Miglioramenti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rispetto al Paper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9" name="Google Shape;209;p21"/>
          <p:cNvGraphicFramePr/>
          <p:nvPr>
            <p:extLst>
              <p:ext uri="{D42A27DB-BD31-4B8C-83A1-F6EECF244321}">
                <p14:modId xmlns:p14="http://schemas.microsoft.com/office/powerpoint/2010/main" val="4070067608"/>
              </p:ext>
            </p:extLst>
          </p:nvPr>
        </p:nvGraphicFramePr>
        <p:xfrm>
          <a:off x="571500" y="1896516"/>
          <a:ext cx="11049000" cy="4017500"/>
        </p:xfrm>
        <a:graphic>
          <a:graphicData uri="http://schemas.openxmlformats.org/drawingml/2006/table">
            <a:tbl>
              <a:tblPr firstRow="1" bandRow="1">
                <a:noFill/>
                <a:tableStyleId>{DA420689-7505-438F-932B-000085F4ABB9}</a:tableStyleId>
              </a:tblPr>
              <a:tblGrid>
                <a:gridCol w="197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Segnale</a:t>
                      </a:r>
                      <a:r>
                        <a:rPr lang="en-US" sz="1500" b="0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Sensore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Dominio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Feature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BVP / PPG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Media/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PPI, Mean HR, 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HR, RMSSD, SD2, Derivate (d1, d2)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EDA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350" b="0" i="0" u="none" strike="noStrike" cap="none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Numero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di Picchi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Fasici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(SCR),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Ampiezza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Media SCR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Temperatura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termica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Coefficiente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Angolare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(Slope) del trend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Accelerometro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Cinematico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/Moto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della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Magnitudo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3D,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movimenti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0" name="Google Shape;210;p21"/>
          <p:cNvSpPr/>
          <p:nvPr/>
        </p:nvSpPr>
        <p:spPr>
          <a:xfrm>
            <a:off x="571500" y="2839491"/>
            <a:ext cx="197837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549872" y="2839491"/>
            <a:ext cx="232246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72335" y="2839491"/>
            <a:ext cx="6748164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3674278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Estrazione delle Feature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23244"/>
            <a:ext cx="5286375" cy="265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2"/>
          <p:cNvSpPr txBox="1"/>
          <p:nvPr/>
        </p:nvSpPr>
        <p:spPr>
          <a:xfrm>
            <a:off x="806768" y="3013768"/>
            <a:ext cx="49558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(Ensemble) 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endParaRPr dirty="0"/>
          </a:p>
        </p:txBody>
      </p:sp>
      <p:sp>
        <p:nvSpPr>
          <p:cNvPr id="231" name="Google Shape;231;p22"/>
          <p:cNvSpPr txBox="1"/>
          <p:nvPr/>
        </p:nvSpPr>
        <p:spPr>
          <a:xfrm>
            <a:off x="806767" y="3524671"/>
            <a:ext cx="4875576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asato su un grande numero di alberi decisionali. Implementato utilizzando </a:t>
            </a:r>
            <a:r>
              <a:rPr lang="it-IT" sz="1350" b="1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100 cicli di apprendimento per gestire </a:t>
            </a: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lo sbilanciamento 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 le etichette di riposo e stress (e anche LOSO con </a:t>
            </a:r>
            <a:r>
              <a:rPr lang="it-IT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724650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Support Vector Machine (SVM)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6724650" y="3556700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Implementazione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Kernel RBF (Radial Basis Function)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BoxConstraint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pari a 10. SVM è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trasformazione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molto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efficace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fisiologici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 di Classificazione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23875" y="1309882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78.8%</a:t>
            </a:r>
            <a:endParaRPr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571500" y="2697276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6201890" y="1222400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dell'Ensemble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dirty="0"/>
          </a:p>
        </p:txBody>
      </p:sp>
      <p:sp>
        <p:nvSpPr>
          <p:cNvPr id="243" name="Google Shape;243;p23"/>
          <p:cNvSpPr txBox="1"/>
          <p:nvPr/>
        </p:nvSpPr>
        <p:spPr>
          <a:xfrm>
            <a:off x="6201965" y="1604665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quello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6201890" y="2323327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84.8%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81.9%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83.3%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5" name="Google Shape;245;p23"/>
          <p:cNvSpPr txBox="1"/>
          <p:nvPr/>
        </p:nvSpPr>
        <p:spPr>
          <a:xfrm>
            <a:off x="6201965" y="3125089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1" u="none" strike="noStrike" cap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DATA LEAKAGE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! La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sicura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senza leakage ha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70%.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RF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RUSBoost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RF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GentleBoost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" name="Google Shape;240;p23">
            <a:extLst>
              <a:ext uri="{FF2B5EF4-FFF2-40B4-BE49-F238E27FC236}">
                <a16:creationId xmlns:a16="http://schemas.microsoft.com/office/drawing/2014/main" id="{90807F2A-9490-291D-40DE-FEBF1C7779FD}"/>
              </a:ext>
            </a:extLst>
          </p:cNvPr>
          <p:cNvSpPr txBox="1"/>
          <p:nvPr/>
        </p:nvSpPr>
        <p:spPr>
          <a:xfrm>
            <a:off x="523875" y="4290805"/>
            <a:ext cx="528637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70.8%</a:t>
            </a:r>
            <a:endParaRPr dirty="0"/>
          </a:p>
        </p:txBody>
      </p:sp>
      <p:sp>
        <p:nvSpPr>
          <p:cNvPr id="3" name="Google Shape;241;p23">
            <a:extLst>
              <a:ext uri="{FF2B5EF4-FFF2-40B4-BE49-F238E27FC236}">
                <a16:creationId xmlns:a16="http://schemas.microsoft.com/office/drawing/2014/main" id="{AEA90460-57D8-D9C5-6C3C-6D0C6B9BF7F8}"/>
              </a:ext>
            </a:extLst>
          </p:cNvPr>
          <p:cNvSpPr txBox="1"/>
          <p:nvPr/>
        </p:nvSpPr>
        <p:spPr>
          <a:xfrm>
            <a:off x="571500" y="5678199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4" name="Google Shape;242;p23">
            <a:extLst>
              <a:ext uri="{FF2B5EF4-FFF2-40B4-BE49-F238E27FC236}">
                <a16:creationId xmlns:a16="http://schemas.microsoft.com/office/drawing/2014/main" id="{3F3C09EF-72D2-BAD9-9474-604CA3CB186C}"/>
              </a:ext>
            </a:extLst>
          </p:cNvPr>
          <p:cNvSpPr txBox="1"/>
          <p:nvPr/>
        </p:nvSpPr>
        <p:spPr>
          <a:xfrm>
            <a:off x="6201890" y="4203323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con LOSO</a:t>
            </a:r>
            <a:endParaRPr dirty="0"/>
          </a:p>
        </p:txBody>
      </p:sp>
      <p:sp>
        <p:nvSpPr>
          <p:cNvPr id="5" name="Google Shape;243;p23">
            <a:extLst>
              <a:ext uri="{FF2B5EF4-FFF2-40B4-BE49-F238E27FC236}">
                <a16:creationId xmlns:a16="http://schemas.microsoft.com/office/drawing/2014/main" id="{4D28F712-FAEF-E2C4-06C6-7A37486AE986}"/>
              </a:ext>
            </a:extLst>
          </p:cNvPr>
          <p:cNvSpPr txBox="1"/>
          <p:nvPr/>
        </p:nvSpPr>
        <p:spPr>
          <a:xfrm>
            <a:off x="6201965" y="4585588"/>
            <a:ext cx="52863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avvicina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244;p23">
            <a:extLst>
              <a:ext uri="{FF2B5EF4-FFF2-40B4-BE49-F238E27FC236}">
                <a16:creationId xmlns:a16="http://schemas.microsoft.com/office/drawing/2014/main" id="{B2383452-624F-8D4B-7A84-7FE5859342AA}"/>
              </a:ext>
            </a:extLst>
          </p:cNvPr>
          <p:cNvSpPr txBox="1"/>
          <p:nvPr/>
        </p:nvSpPr>
        <p:spPr>
          <a:xfrm>
            <a:off x="6201890" y="4982672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 txBox="1"/>
          <p:nvPr/>
        </p:nvSpPr>
        <p:spPr>
          <a:xfrm>
            <a:off x="571500" y="2246503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80.1%</a:t>
            </a:r>
            <a:endParaRPr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571500" y="3675253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334125" y="2246503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 </a:t>
            </a:r>
            <a:r>
              <a:rPr lang="en-US" sz="2100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odello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Migliore (in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questo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6334113" y="2682513"/>
            <a:ext cx="5286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SVM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mappato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Kernel RBF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riconosce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meglio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pattern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complessi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(ha un Recall dell’86,6% rispetto all’81.9%),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 (83,4%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84,8%)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Infine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6334113" y="4457352"/>
            <a:ext cx="5286300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86.6%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85.0%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SVM (RBF Kernel)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" name="Google Shape;245;p23">
            <a:extLst>
              <a:ext uri="{FF2B5EF4-FFF2-40B4-BE49-F238E27FC236}">
                <a16:creationId xmlns:a16="http://schemas.microsoft.com/office/drawing/2014/main" id="{EC89CE9A-880C-EF8B-D470-2EC353755939}"/>
              </a:ext>
            </a:extLst>
          </p:cNvPr>
          <p:cNvSpPr txBox="1"/>
          <p:nvPr/>
        </p:nvSpPr>
        <p:spPr>
          <a:xfrm>
            <a:off x="571575" y="4196700"/>
            <a:ext cx="52863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Tuttavia, soffre di </a:t>
            </a:r>
            <a:r>
              <a:rPr lang="it-IT" sz="1350" b="0" i="1" u="none" strike="noStrike" cap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DATA LEAKAGE</a:t>
            </a: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! La variante sicura senza leakage ha accuratezza del 67%, in tal caso la variante con </a:t>
            </a:r>
            <a:r>
              <a:rPr lang="it-IT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LOSO diventa la migliore.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571500" y="5346972"/>
            <a:ext cx="11049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dimostrato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migliorie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apportate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preprocessing e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hanno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permesso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incremento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tutti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valutati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al paper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riferimento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Anche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se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Migliore senza Data leakage, non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mostrata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LOSO,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circa </a:t>
            </a:r>
            <a:r>
              <a:rPr lang="en-US" sz="1350" b="0" i="0" u="none" strike="noStrike" cap="none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il 70,8%)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Confronto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</a:t>
            </a:r>
            <a:endParaRPr dirty="0"/>
          </a:p>
        </p:txBody>
      </p:sp>
      <p:pic>
        <p:nvPicPr>
          <p:cNvPr id="265" name="Google Shape;265;p25" title="graph.png"/>
          <p:cNvPicPr preferRelativeResize="0"/>
          <p:nvPr/>
        </p:nvPicPr>
        <p:blipFill rotWithShape="1">
          <a:blip r:embed="rId4">
            <a:alphaModFix/>
          </a:blip>
          <a:srcRect t="1886" b="1886"/>
          <a:stretch/>
        </p:blipFill>
        <p:spPr>
          <a:xfrm>
            <a:off x="2559200" y="1317575"/>
            <a:ext cx="7659425" cy="3745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714500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l’integrazione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più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segnali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come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temperatura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movimento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raggiungere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un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risultato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3,6%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218208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245;p23">
            <a:extLst>
              <a:ext uri="{FF2B5EF4-FFF2-40B4-BE49-F238E27FC236}">
                <a16:creationId xmlns:a16="http://schemas.microsoft.com/office/drawing/2014/main" id="{8C45CFFC-F599-2638-D0FE-AA7708CB3232}"/>
              </a:ext>
            </a:extLst>
          </p:cNvPr>
          <p:cNvSpPr txBox="1"/>
          <p:nvPr/>
        </p:nvSpPr>
        <p:spPr>
          <a:xfrm>
            <a:off x="278651" y="6352088"/>
            <a:ext cx="106084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LOSO, senza Data Leakage,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avvicina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ma non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raggiunge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ancora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paper di circa il 6,5%.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Altro – 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Esperimenti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screenshots</a:t>
            </a:r>
            <a:endParaRPr dirty="0"/>
          </a:p>
        </p:txBody>
      </p:sp>
      <p:sp>
        <p:nvSpPr>
          <p:cNvPr id="282" name="Google Shape;282;p27"/>
          <p:cNvSpPr txBox="1"/>
          <p:nvPr/>
        </p:nvSpPr>
        <p:spPr>
          <a:xfrm>
            <a:off x="571500" y="1350200"/>
            <a:ext cx="4287883" cy="265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Utilizzo</a:t>
            </a:r>
            <a:r>
              <a:rPr lang="en-US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di HR e IBI</a:t>
            </a:r>
            <a:endParaRPr sz="1350" b="1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sperimentate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implementazioni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l’ausilio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misurati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HR (senza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derivarli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differentemente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dal paper) e IBI,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erano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nettamente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inferiori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mostrati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precedenza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(Circa il 64%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simili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filtri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quindi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adottati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altri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C588C3-6093-5D04-637C-77B80EAB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995" y="1102555"/>
            <a:ext cx="4426423" cy="2630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28D02567-1529-5595-B43E-822C849CE8D1}"/>
              </a:ext>
            </a:extLst>
          </p:cNvPr>
          <p:cNvSpPr txBox="1"/>
          <p:nvPr/>
        </p:nvSpPr>
        <p:spPr>
          <a:xfrm>
            <a:off x="5679145" y="3763191"/>
            <a:ext cx="4848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Matrice di confusion finale con K-Fold (senza HR e IBI)</a:t>
            </a:r>
            <a:endParaRPr lang="it-IT" dirty="0"/>
          </a:p>
        </p:txBody>
      </p:sp>
      <p:sp>
        <p:nvSpPr>
          <p:cNvPr id="2" name="Google Shape;282;p27">
            <a:extLst>
              <a:ext uri="{FF2B5EF4-FFF2-40B4-BE49-F238E27FC236}">
                <a16:creationId xmlns:a16="http://schemas.microsoft.com/office/drawing/2014/main" id="{898DA238-2E6C-87D9-0684-DDFF77E0BA80}"/>
              </a:ext>
            </a:extLst>
          </p:cNvPr>
          <p:cNvSpPr txBox="1"/>
          <p:nvPr/>
        </p:nvSpPr>
        <p:spPr>
          <a:xfrm>
            <a:off x="571500" y="4513265"/>
            <a:ext cx="4287883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con LOSO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inoltre testate versioni con LOSO (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Leave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-One-Subject-Out), con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al posto di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che non soffrono di Data Leakage ma raggiungono risultati non al livello del Paper.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EFC5A06-B844-15E6-F0F9-A6EAE5150CD7}"/>
              </a:ext>
            </a:extLst>
          </p:cNvPr>
          <p:cNvSpPr txBox="1"/>
          <p:nvPr/>
        </p:nvSpPr>
        <p:spPr>
          <a:xfrm>
            <a:off x="5991903" y="6490353"/>
            <a:ext cx="4223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Matrice di </a:t>
            </a:r>
            <a:r>
              <a:rPr lang="en-US" sz="140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confusione</a:t>
            </a:r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40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LOSO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6A96034-F068-7441-D27D-728C13871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2792" y="4225541"/>
            <a:ext cx="5041640" cy="22374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1253</Words>
  <Application>Microsoft Office PowerPoint</Application>
  <PresentationFormat>Widescreen</PresentationFormat>
  <Paragraphs>104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Poppins Medium</vt:lpstr>
      <vt:lpstr>Inter SemiBold</vt:lpstr>
      <vt:lpstr>Poppins SemiBold</vt:lpstr>
      <vt:lpstr>Calibri</vt:lpstr>
      <vt:lpstr>Inter</vt:lpstr>
      <vt:lpstr>Arial</vt:lpstr>
      <vt:lpstr>Poppins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24</cp:revision>
  <dcterms:modified xsi:type="dcterms:W3CDTF">2026-05-16T20:57:09Z</dcterms:modified>
</cp:coreProperties>
</file>