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embeddedFontLst>
    <p:embeddedFont>
      <p:font typeface="Inter" panose="020B0604020202020204" charset="0"/>
      <p:regular r:id="rId18"/>
      <p:bold r:id="rId19"/>
      <p:italic r:id="rId20"/>
      <p:boldItalic r:id="rId21"/>
    </p:embeddedFont>
    <p:embeddedFont>
      <p:font typeface="Inter SemiBold" panose="020B0604020202020204" charset="0"/>
      <p:regular r:id="rId22"/>
      <p:bold r:id="rId23"/>
      <p:italic r:id="rId24"/>
      <p:boldItalic r:id="rId25"/>
    </p:embeddedFont>
    <p:embeddedFont>
      <p:font typeface="Poppins" panose="00000500000000000000" pitchFamily="2" charset="0"/>
      <p:regular r:id="rId26"/>
      <p:bold r:id="rId27"/>
      <p:italic r:id="rId28"/>
      <p:boldItalic r:id="rId29"/>
    </p:embeddedFont>
    <p:embeddedFont>
      <p:font typeface="Poppins Medium" panose="00000600000000000000" pitchFamily="2" charset="0"/>
      <p:regular r:id="rId30"/>
      <p:bold r:id="rId31"/>
      <p:italic r:id="rId32"/>
      <p:boldItalic r:id="rId33"/>
    </p:embeddedFont>
    <p:embeddedFont>
      <p:font typeface="Poppins SemiBold" panose="00000700000000000000" pitchFamily="2" charset="0"/>
      <p:regular r:id="rId34"/>
      <p:bold r:id="rId35"/>
      <p:italic r:id="rId36"/>
      <p:boldItalic r:id="rId3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DA420689-7505-438F-932B-000085F4ABB9}">
  <a:tblStyle styleId="{DA420689-7505-438F-932B-000085F4ABB9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28" d="100"/>
          <a:sy n="128" d="100"/>
        </p:scale>
        <p:origin x="2650" y="105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26" Type="http://schemas.openxmlformats.org/officeDocument/2006/relationships/font" Target="fonts/font9.fntdata"/><Relationship Id="rId39" Type="http://schemas.openxmlformats.org/officeDocument/2006/relationships/viewProps" Target="viewProps.xml"/><Relationship Id="rId21" Type="http://schemas.openxmlformats.org/officeDocument/2006/relationships/font" Target="fonts/font4.fntdata"/><Relationship Id="rId34" Type="http://schemas.openxmlformats.org/officeDocument/2006/relationships/font" Target="fonts/font17.fnt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3.fntdata"/><Relationship Id="rId29" Type="http://schemas.openxmlformats.org/officeDocument/2006/relationships/font" Target="fonts/font12.fntdata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7.fntdata"/><Relationship Id="rId32" Type="http://schemas.openxmlformats.org/officeDocument/2006/relationships/font" Target="fonts/font15.fntdata"/><Relationship Id="rId37" Type="http://schemas.openxmlformats.org/officeDocument/2006/relationships/font" Target="fonts/font20.fntdata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6.fntdata"/><Relationship Id="rId28" Type="http://schemas.openxmlformats.org/officeDocument/2006/relationships/font" Target="fonts/font11.fntdata"/><Relationship Id="rId36" Type="http://schemas.openxmlformats.org/officeDocument/2006/relationships/font" Target="fonts/font19.fntdata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31" Type="http://schemas.openxmlformats.org/officeDocument/2006/relationships/font" Target="fonts/font1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5.fntdata"/><Relationship Id="rId27" Type="http://schemas.openxmlformats.org/officeDocument/2006/relationships/font" Target="fonts/font10.fntdata"/><Relationship Id="rId30" Type="http://schemas.openxmlformats.org/officeDocument/2006/relationships/font" Target="fonts/font13.fntdata"/><Relationship Id="rId35" Type="http://schemas.openxmlformats.org/officeDocument/2006/relationships/font" Target="fonts/font18.fntdata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5" Type="http://schemas.openxmlformats.org/officeDocument/2006/relationships/font" Target="fonts/font8.fntdata"/><Relationship Id="rId33" Type="http://schemas.openxmlformats.org/officeDocument/2006/relationships/font" Target="fonts/font16.fntdata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" name="Google Shape;89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" name="Google Shape;99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" name="Google Shape;113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4" name="Google Shape;134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7" name="Google Shape;167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5" name="Google Shape;185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6" name="Google Shape;206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5" name="Google Shape;225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7" name="Google Shape;237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9" name="Google Shape;249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0" name="Google Shape;260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8" name="Google Shape;268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8" name="Google Shape;278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1.png"/><Relationship Id="rId7" Type="http://schemas.openxmlformats.org/officeDocument/2006/relationships/image" Target="../media/image8.png"/><Relationship Id="rId12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.png"/><Relationship Id="rId7" Type="http://schemas.openxmlformats.org/officeDocument/2006/relationships/image" Target="../media/image23.png"/><Relationship Id="rId12" Type="http://schemas.openxmlformats.org/officeDocument/2006/relationships/image" Target="../media/image2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11" Type="http://schemas.openxmlformats.org/officeDocument/2006/relationships/image" Target="../media/image27.png"/><Relationship Id="rId5" Type="http://schemas.openxmlformats.org/officeDocument/2006/relationships/image" Target="../media/image21.png"/><Relationship Id="rId10" Type="http://schemas.openxmlformats.org/officeDocument/2006/relationships/image" Target="../media/image26.png"/><Relationship Id="rId4" Type="http://schemas.openxmlformats.org/officeDocument/2006/relationships/image" Target="../media/image20.png"/><Relationship Id="rId9" Type="http://schemas.openxmlformats.org/officeDocument/2006/relationships/image" Target="../media/image2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3"/>
          <p:cNvSpPr txBox="1"/>
          <p:nvPr/>
        </p:nvSpPr>
        <p:spPr>
          <a:xfrm>
            <a:off x="2110501" y="2591841"/>
            <a:ext cx="7970996" cy="6704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0" i="0" u="none" strike="noStrike" cap="none" dirty="0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Rilevamento </a:t>
            </a:r>
            <a:r>
              <a:rPr lang="en-US" sz="4800" b="0" i="0" u="none" strike="noStrike" cap="none" dirty="0" err="1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dello</a:t>
            </a:r>
            <a:r>
              <a:rPr lang="en-US" sz="4800" b="0" i="0" u="none" strike="noStrike" cap="none" dirty="0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 </a:t>
            </a:r>
            <a:r>
              <a:rPr lang="en-US" sz="4800" b="0" i="0" u="none" strike="noStrike" cap="none" dirty="0">
                <a:solidFill>
                  <a:srgbClr val="38BDF8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Stress</a:t>
            </a:r>
            <a:endParaRPr dirty="0"/>
          </a:p>
        </p:txBody>
      </p:sp>
      <p:sp>
        <p:nvSpPr>
          <p:cNvPr id="86" name="Google Shape;86;p13"/>
          <p:cNvSpPr txBox="1"/>
          <p:nvPr/>
        </p:nvSpPr>
        <p:spPr>
          <a:xfrm>
            <a:off x="2300287" y="3452812"/>
            <a:ext cx="7591500" cy="1119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6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Machine Learning con Dati </a:t>
            </a:r>
            <a:r>
              <a:rPr lang="en-US" sz="1650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Empatica</a:t>
            </a:r>
            <a:r>
              <a:rPr lang="en-US" sz="165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E4</a:t>
            </a: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65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Progetto di </a:t>
            </a:r>
            <a:r>
              <a:rPr lang="en-US" sz="1650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Interfacce</a:t>
            </a:r>
            <a:r>
              <a:rPr lang="en-US" sz="165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Uomo-</a:t>
            </a:r>
            <a:r>
              <a:rPr lang="en-US" sz="1650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Macchina</a:t>
            </a:r>
            <a:endParaRPr sz="1650" b="0" i="0" u="none" strike="noStrike" cap="none" dirty="0">
              <a:solidFill>
                <a:srgbClr val="94A3B8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ctr" rtl="0">
              <a:lnSpc>
                <a:spcPct val="146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Gabriele Caretti Mat. 756564</a:t>
            </a:r>
            <a:endParaRPr sz="1650" dirty="0">
              <a:solidFill>
                <a:srgbClr val="94A3B8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14"/>
          <p:cNvSpPr txBox="1"/>
          <p:nvPr/>
        </p:nvSpPr>
        <p:spPr>
          <a:xfrm>
            <a:off x="571500" y="571500"/>
            <a:ext cx="5550693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Obiettivi del Progetto</a:t>
            </a:r>
            <a:endParaRPr/>
          </a:p>
        </p:txBody>
      </p:sp>
      <p:pic>
        <p:nvPicPr>
          <p:cNvPr id="93" name="Google Shape;93;p14"/>
          <p:cNvPicPr preferRelativeResize="0"/>
          <p:nvPr/>
        </p:nvPicPr>
        <p:blipFill rotWithShape="1">
          <a:blip r:embed="rId4">
            <a:alphaModFix/>
          </a:blip>
          <a:srcRect l="8528" r="8519"/>
          <a:stretch/>
        </p:blipFill>
        <p:spPr>
          <a:xfrm>
            <a:off x="7781250" y="1205925"/>
            <a:ext cx="2928937" cy="3935760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4"/>
          <p:cNvSpPr txBox="1"/>
          <p:nvPr/>
        </p:nvSpPr>
        <p:spPr>
          <a:xfrm>
            <a:off x="571500" y="2868066"/>
            <a:ext cx="5286300" cy="54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Sviluppare una pipeline di elaborazione dati per distinguere gli stati psicofisiologici (Stress v</a:t>
            </a:r>
            <a:r>
              <a:rPr lang="en-US" sz="135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</a:t>
            </a:r>
            <a:r>
              <a:rPr lang="en-US" sz="135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Riposo).</a:t>
            </a:r>
            <a:endParaRPr/>
          </a:p>
        </p:txBody>
      </p:sp>
      <p:sp>
        <p:nvSpPr>
          <p:cNvPr id="95" name="Google Shape;95;p14"/>
          <p:cNvSpPr txBox="1"/>
          <p:nvPr/>
        </p:nvSpPr>
        <p:spPr>
          <a:xfrm>
            <a:off x="571500" y="3559522"/>
            <a:ext cx="5286375" cy="9971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La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classificazione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si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basa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su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dati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biometrici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acquisiti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in tempo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reale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tramite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sensori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indossabili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multisensoriali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(Dataset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Empatica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E4).</a:t>
            </a:r>
            <a:endParaRPr dirty="0"/>
          </a:p>
        </p:txBody>
      </p:sp>
      <p:sp>
        <p:nvSpPr>
          <p:cNvPr id="96" name="Google Shape;96;p14"/>
          <p:cNvSpPr txBox="1"/>
          <p:nvPr/>
        </p:nvSpPr>
        <p:spPr>
          <a:xfrm>
            <a:off x="571500" y="4707874"/>
            <a:ext cx="5286300" cy="54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Vengono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impiegati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modelli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di Machine Learning 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per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addestrare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un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modello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il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più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accurato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possibile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Google Shape;101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277516"/>
            <a:ext cx="5286375" cy="3255466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34125" y="2277516"/>
            <a:ext cx="5286375" cy="3255466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15"/>
          <p:cNvSpPr txBox="1"/>
          <p:nvPr/>
        </p:nvSpPr>
        <p:spPr>
          <a:xfrm>
            <a:off x="962025" y="2668041"/>
            <a:ext cx="4730700" cy="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Riferimento </a:t>
            </a:r>
            <a:r>
              <a:rPr lang="en-US" sz="2100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(Baseline)</a:t>
            </a:r>
            <a:endParaRPr/>
          </a:p>
        </p:txBody>
      </p:sp>
      <p:sp>
        <p:nvSpPr>
          <p:cNvPr id="105" name="Google Shape;105;p15"/>
          <p:cNvSpPr txBox="1"/>
          <p:nvPr/>
        </p:nvSpPr>
        <p:spPr>
          <a:xfrm>
            <a:off x="962025" y="3210966"/>
            <a:ext cx="4505400" cy="1329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Il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modello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è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b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asato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sul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paper </a:t>
            </a:r>
            <a:r>
              <a:rPr lang="en-US" sz="1350" b="0" i="1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"A Method for Stress Detection Using </a:t>
            </a:r>
            <a:r>
              <a:rPr lang="en-US" sz="1350" b="0" i="1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Empatica</a:t>
            </a:r>
            <a:r>
              <a:rPr lang="en-US" sz="1350" b="0" i="1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E4"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(Campanella et al., 2023).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Gli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autori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propongono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una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pipeline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utilizzando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solamente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due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segnali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(EDA e PPG).</a:t>
            </a:r>
            <a:endParaRPr dirty="0"/>
          </a:p>
        </p:txBody>
      </p:sp>
      <p:sp>
        <p:nvSpPr>
          <p:cNvPr id="106" name="Google Shape;106;p15"/>
          <p:cNvSpPr txBox="1"/>
          <p:nvPr/>
        </p:nvSpPr>
        <p:spPr>
          <a:xfrm>
            <a:off x="962025" y="4538275"/>
            <a:ext cx="4505400" cy="664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La loro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ac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curatezza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massima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dichiarata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è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stata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del </a:t>
            </a:r>
            <a:r>
              <a:rPr lang="en-US" sz="1350" b="1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76.5%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(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utilizzando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Random Forest).</a:t>
            </a:r>
            <a:endParaRPr dirty="0"/>
          </a:p>
        </p:txBody>
      </p:sp>
      <p:sp>
        <p:nvSpPr>
          <p:cNvPr id="107" name="Google Shape;107;p15"/>
          <p:cNvSpPr txBox="1"/>
          <p:nvPr/>
        </p:nvSpPr>
        <p:spPr>
          <a:xfrm>
            <a:off x="6724650" y="2668041"/>
            <a:ext cx="4730591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 err="1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Limiti</a:t>
            </a:r>
            <a:r>
              <a:rPr lang="en-US" sz="2100" b="0" i="0" u="none" strike="noStrike" cap="none" dirty="0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 </a:t>
            </a:r>
            <a:endParaRPr dirty="0"/>
          </a:p>
        </p:txBody>
      </p:sp>
      <p:sp>
        <p:nvSpPr>
          <p:cNvPr id="108" name="Google Shape;108;p15"/>
          <p:cNvSpPr txBox="1"/>
          <p:nvPr/>
        </p:nvSpPr>
        <p:spPr>
          <a:xfrm>
            <a:off x="6724650" y="3210966"/>
            <a:ext cx="4505400" cy="9971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Il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modello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del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paper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soffre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di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sbilanciamento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del dataset (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più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campioni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di stress rispetto a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quelli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di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riposo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),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rendendo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le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analisi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meno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precise.</a:t>
            </a:r>
            <a:endParaRPr dirty="0"/>
          </a:p>
        </p:txBody>
      </p:sp>
      <p:sp>
        <p:nvSpPr>
          <p:cNvPr id="109" name="Google Shape;109;p15"/>
          <p:cNvSpPr txBox="1"/>
          <p:nvPr/>
        </p:nvSpPr>
        <p:spPr>
          <a:xfrm>
            <a:off x="6724650" y="4162322"/>
            <a:ext cx="4505400" cy="9971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Inoltre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,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l'estrazione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delle feature 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è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stata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fatta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su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finestre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fisse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senza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alcun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tipo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di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sovrapposizione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temporale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,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dove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potrebbero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esserci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informazioni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utili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dirty="0"/>
          </a:p>
        </p:txBody>
      </p:sp>
      <p:sp>
        <p:nvSpPr>
          <p:cNvPr id="110" name="Google Shape;110;p15"/>
          <p:cNvSpPr txBox="1"/>
          <p:nvPr/>
        </p:nvSpPr>
        <p:spPr>
          <a:xfrm>
            <a:off x="571500" y="571500"/>
            <a:ext cx="11601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Analisi del </a:t>
            </a:r>
            <a:r>
              <a:rPr lang="en-US" sz="3000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Paper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5" name="Google Shape;115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6" name="Google Shape;116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289875"/>
            <a:ext cx="3492550" cy="3840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16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49800" y="2289875"/>
            <a:ext cx="3492550" cy="3840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16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128100" y="2289876"/>
            <a:ext cx="3492550" cy="3840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9" name="Google Shape;119;p16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866775" y="2585144"/>
            <a:ext cx="666750" cy="666750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16"/>
          <p:cNvSpPr txBox="1"/>
          <p:nvPr/>
        </p:nvSpPr>
        <p:spPr>
          <a:xfrm>
            <a:off x="866775" y="3442394"/>
            <a:ext cx="1350168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BVP / PPG</a:t>
            </a:r>
            <a:endParaRPr/>
          </a:p>
        </p:txBody>
      </p:sp>
      <p:sp>
        <p:nvSpPr>
          <p:cNvPr id="121" name="Google Shape;121;p16"/>
          <p:cNvSpPr txBox="1"/>
          <p:nvPr/>
        </p:nvSpPr>
        <p:spPr>
          <a:xfrm>
            <a:off x="866775" y="3985319"/>
            <a:ext cx="2901900" cy="19943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Monitoraggio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della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Pulsazione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del Volume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Sanguigno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(BVP) e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Fotopletismografia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(PPG) per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estrarre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la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variabilità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della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frequenza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cardiaca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(HRV) e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picchi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sistolici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(64Hz).</a:t>
            </a:r>
            <a:endParaRPr dirty="0"/>
          </a:p>
        </p:txBody>
      </p:sp>
      <p:pic>
        <p:nvPicPr>
          <p:cNvPr id="122" name="Google Shape;122;p16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645074" y="2585144"/>
            <a:ext cx="666750" cy="666750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16"/>
          <p:cNvSpPr txBox="1"/>
          <p:nvPr/>
        </p:nvSpPr>
        <p:spPr>
          <a:xfrm>
            <a:off x="4645074" y="3442394"/>
            <a:ext cx="1400175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EDA / GSR</a:t>
            </a:r>
            <a:endParaRPr/>
          </a:p>
        </p:txBody>
      </p:sp>
      <p:sp>
        <p:nvSpPr>
          <p:cNvPr id="124" name="Google Shape;124;p16"/>
          <p:cNvSpPr txBox="1"/>
          <p:nvPr/>
        </p:nvSpPr>
        <p:spPr>
          <a:xfrm>
            <a:off x="4645074" y="3985319"/>
            <a:ext cx="2901900" cy="187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Monitoraggio dell’a</a:t>
            </a:r>
            <a:r>
              <a:rPr lang="en-US" sz="135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ttività elettrodermica </a:t>
            </a:r>
            <a:r>
              <a:rPr lang="en-US" sz="135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(EDA) nota anche come Risposta Galvanica Cutanea (GRS)</a:t>
            </a:r>
            <a:r>
              <a:rPr lang="en-US" sz="135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per rilevare l'eccitazione del sistema nervoso simpatico (ricampionata da </a:t>
            </a:r>
            <a:r>
              <a:rPr lang="en-US" sz="135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4</a:t>
            </a:r>
            <a:r>
              <a:rPr lang="en-US" sz="135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a 64Hz).</a:t>
            </a:r>
            <a:endParaRPr/>
          </a:p>
        </p:txBody>
      </p:sp>
      <p:pic>
        <p:nvPicPr>
          <p:cNvPr id="125" name="Google Shape;125;p16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8423374" y="2585144"/>
            <a:ext cx="666750" cy="666750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6"/>
          <p:cNvSpPr txBox="1"/>
          <p:nvPr/>
        </p:nvSpPr>
        <p:spPr>
          <a:xfrm>
            <a:off x="8423374" y="3442394"/>
            <a:ext cx="1710213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TEMP &amp; ACC</a:t>
            </a:r>
            <a:endParaRPr/>
          </a:p>
        </p:txBody>
      </p:sp>
      <p:sp>
        <p:nvSpPr>
          <p:cNvPr id="127" name="Google Shape;127;p16"/>
          <p:cNvSpPr txBox="1"/>
          <p:nvPr/>
        </p:nvSpPr>
        <p:spPr>
          <a:xfrm>
            <a:off x="8423375" y="3985326"/>
            <a:ext cx="2901900" cy="19943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Monitoraggio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della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temperatura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superficiale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e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dei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movimenti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tramite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accelerometro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per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arricchire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le feature e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valutare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lo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stato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in base alle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azioni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fisiche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e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all’attività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corporea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dirty="0"/>
          </a:p>
        </p:txBody>
      </p:sp>
      <p:pic>
        <p:nvPicPr>
          <p:cNvPr id="128" name="Google Shape;128;p16" descr="image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1009650" y="2728019"/>
            <a:ext cx="38100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16" descr="image.png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4811762" y="2728019"/>
            <a:ext cx="333375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0" name="Google Shape;130;p16" descr="image.png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8637686" y="2728019"/>
            <a:ext cx="23812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16"/>
          <p:cNvSpPr txBox="1"/>
          <p:nvPr/>
        </p:nvSpPr>
        <p:spPr>
          <a:xfrm>
            <a:off x="571500" y="571500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Il Dataset (Empatica E4)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6" name="Google Shape;136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7" name="Google Shape;137;p17"/>
          <p:cNvSpPr/>
          <p:nvPr/>
        </p:nvSpPr>
        <p:spPr>
          <a:xfrm>
            <a:off x="571500" y="4124325"/>
            <a:ext cx="11049000" cy="3810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7"/>
          <p:cNvSpPr txBox="1"/>
          <p:nvPr/>
        </p:nvSpPr>
        <p:spPr>
          <a:xfrm>
            <a:off x="571500" y="4429125"/>
            <a:ext cx="2784300" cy="2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dirty="0">
                <a:solidFill>
                  <a:srgbClr val="F8FAFC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1° Task</a:t>
            </a:r>
            <a:r>
              <a:rPr lang="en-US" sz="1650" b="0" i="0" u="none" strike="noStrike" cap="none" dirty="0">
                <a:solidFill>
                  <a:srgbClr val="F8FAFC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: Lego libero</a:t>
            </a:r>
            <a:endParaRPr dirty="0"/>
          </a:p>
        </p:txBody>
      </p:sp>
      <p:sp>
        <p:nvSpPr>
          <p:cNvPr id="139" name="Google Shape;139;p17"/>
          <p:cNvSpPr txBox="1"/>
          <p:nvPr/>
        </p:nvSpPr>
        <p:spPr>
          <a:xfrm>
            <a:off x="571500" y="4886325"/>
            <a:ext cx="2651700" cy="8863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10 </a:t>
            </a:r>
            <a:r>
              <a:rPr lang="en-US" sz="1200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minuti</a:t>
            </a:r>
            <a:r>
              <a:rPr lang="en-US" sz="12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di </a:t>
            </a:r>
            <a:r>
              <a:rPr lang="en-US" sz="1200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a</a:t>
            </a:r>
            <a:r>
              <a:rPr lang="en-US" sz="1200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ssemblaggio</a:t>
            </a:r>
            <a:r>
              <a:rPr lang="en-US" sz="12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200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pezzi</a:t>
            </a:r>
            <a:r>
              <a:rPr lang="en-US" sz="12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200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Lego </a:t>
            </a:r>
            <a:r>
              <a:rPr lang="en-US" sz="12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senza </a:t>
            </a:r>
            <a:r>
              <a:rPr lang="en-US" sz="1200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istruzioni</a:t>
            </a:r>
            <a:r>
              <a:rPr lang="en-US" sz="12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(</a:t>
            </a:r>
            <a:r>
              <a:rPr lang="en-US" sz="1200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lieve</a:t>
            </a:r>
            <a:r>
              <a:rPr lang="en-US" sz="1200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stress </a:t>
            </a:r>
            <a:r>
              <a:rPr lang="en-US" sz="1200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cognitivo</a:t>
            </a:r>
            <a:r>
              <a:rPr lang="en-US" sz="12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).</a:t>
            </a:r>
            <a:endParaRPr dirty="0"/>
          </a:p>
        </p:txBody>
      </p:sp>
      <p:sp>
        <p:nvSpPr>
          <p:cNvPr id="140" name="Google Shape;140;p17"/>
          <p:cNvSpPr txBox="1"/>
          <p:nvPr/>
        </p:nvSpPr>
        <p:spPr>
          <a:xfrm>
            <a:off x="3370510" y="2769989"/>
            <a:ext cx="2784300" cy="2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dirty="0">
                <a:solidFill>
                  <a:srgbClr val="F8FAFC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2° Task:</a:t>
            </a:r>
            <a:r>
              <a:rPr lang="en-US" sz="1650" b="0" i="0" u="none" strike="noStrike" cap="none" dirty="0">
                <a:solidFill>
                  <a:srgbClr val="F8FAFC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 Lego </a:t>
            </a:r>
            <a:r>
              <a:rPr lang="en-US" sz="1650" b="0" i="0" u="none" strike="noStrike" cap="none" dirty="0" err="1">
                <a:solidFill>
                  <a:srgbClr val="F8FAFC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Guidato</a:t>
            </a:r>
            <a:endParaRPr dirty="0"/>
          </a:p>
        </p:txBody>
      </p:sp>
      <p:sp>
        <p:nvSpPr>
          <p:cNvPr id="141" name="Google Shape;141;p17"/>
          <p:cNvSpPr txBox="1"/>
          <p:nvPr/>
        </p:nvSpPr>
        <p:spPr>
          <a:xfrm>
            <a:off x="3370510" y="3227189"/>
            <a:ext cx="2651700" cy="8863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5 </a:t>
            </a:r>
            <a:r>
              <a:rPr lang="en-US" sz="1200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minuti</a:t>
            </a:r>
            <a:r>
              <a:rPr lang="en-US" sz="12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di </a:t>
            </a:r>
            <a:r>
              <a:rPr lang="en-US" sz="1200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a</a:t>
            </a:r>
            <a:r>
              <a:rPr lang="en-US" sz="1200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ssemblaggio</a:t>
            </a:r>
            <a:r>
              <a:rPr lang="en-US" sz="12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200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dei</a:t>
            </a:r>
            <a:r>
              <a:rPr lang="en-US" sz="12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Lego con </a:t>
            </a:r>
            <a:r>
              <a:rPr lang="en-US" sz="1200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istruzioni</a:t>
            </a:r>
            <a:r>
              <a:rPr lang="en-US" sz="12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(</a:t>
            </a:r>
            <a:r>
              <a:rPr lang="en-US" sz="1200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Pressione</a:t>
            </a:r>
            <a:r>
              <a:rPr lang="en-US" sz="12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200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temporale</a:t>
            </a:r>
            <a:r>
              <a:rPr lang="en-US" sz="12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).</a:t>
            </a:r>
            <a:endParaRPr dirty="0"/>
          </a:p>
        </p:txBody>
      </p:sp>
      <p:sp>
        <p:nvSpPr>
          <p:cNvPr id="142" name="Google Shape;142;p17"/>
          <p:cNvSpPr txBox="1"/>
          <p:nvPr/>
        </p:nvSpPr>
        <p:spPr>
          <a:xfrm>
            <a:off x="6169521" y="4429125"/>
            <a:ext cx="2784300" cy="2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>
                <a:solidFill>
                  <a:srgbClr val="F8FAFC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3° e 4° Task</a:t>
            </a:r>
            <a:r>
              <a:rPr lang="en-US" sz="1650" b="0" i="0" u="none" strike="noStrike" cap="none">
                <a:solidFill>
                  <a:srgbClr val="F8FAFC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: Matematica</a:t>
            </a:r>
            <a:endParaRPr/>
          </a:p>
        </p:txBody>
      </p:sp>
      <p:sp>
        <p:nvSpPr>
          <p:cNvPr id="143" name="Google Shape;143;p17"/>
          <p:cNvSpPr txBox="1"/>
          <p:nvPr/>
        </p:nvSpPr>
        <p:spPr>
          <a:xfrm>
            <a:off x="6169521" y="4886325"/>
            <a:ext cx="2651700" cy="48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Calcoli matematici </a:t>
            </a:r>
            <a:r>
              <a:rPr lang="en-US" sz="120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senza limiti di tempo (Stress mentale elevato).</a:t>
            </a:r>
            <a:endParaRPr/>
          </a:p>
        </p:txBody>
      </p:sp>
      <p:sp>
        <p:nvSpPr>
          <p:cNvPr id="144" name="Google Shape;144;p17"/>
          <p:cNvSpPr txBox="1"/>
          <p:nvPr/>
        </p:nvSpPr>
        <p:spPr>
          <a:xfrm>
            <a:off x="8968531" y="2769989"/>
            <a:ext cx="2784300" cy="2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>
                <a:solidFill>
                  <a:srgbClr val="F8FAFC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5° Task</a:t>
            </a:r>
            <a:r>
              <a:rPr lang="en-US" sz="1650" b="0" i="0" u="none" strike="noStrike" cap="none">
                <a:solidFill>
                  <a:srgbClr val="F8FAFC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: Esposizione CV</a:t>
            </a:r>
            <a:endParaRPr/>
          </a:p>
        </p:txBody>
      </p:sp>
      <p:sp>
        <p:nvSpPr>
          <p:cNvPr id="145" name="Google Shape;145;p17"/>
          <p:cNvSpPr txBox="1"/>
          <p:nvPr/>
        </p:nvSpPr>
        <p:spPr>
          <a:xfrm>
            <a:off x="8968531" y="3227189"/>
            <a:ext cx="2651700" cy="48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1 min</a:t>
            </a:r>
            <a:r>
              <a:rPr lang="en-US" sz="120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uto di p</a:t>
            </a:r>
            <a:r>
              <a:rPr lang="en-US" sz="120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resentazione orale del curriculum (Stress sociale).</a:t>
            </a:r>
            <a:endParaRPr/>
          </a:p>
        </p:txBody>
      </p:sp>
      <p:sp>
        <p:nvSpPr>
          <p:cNvPr id="146" name="Google Shape;146;p17"/>
          <p:cNvSpPr/>
          <p:nvPr/>
        </p:nvSpPr>
        <p:spPr>
          <a:xfrm>
            <a:off x="1783035" y="4029075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111827"/>
          </a:solidFill>
          <a:ln w="38100" cap="flat" cmpd="sng">
            <a:solidFill>
              <a:srgbClr val="38BDF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17"/>
          <p:cNvSpPr/>
          <p:nvPr/>
        </p:nvSpPr>
        <p:spPr>
          <a:xfrm>
            <a:off x="4582045" y="4029075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111827"/>
          </a:solidFill>
          <a:ln w="38100" cap="flat" cmpd="sng">
            <a:solidFill>
              <a:srgbClr val="38BDF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17"/>
          <p:cNvSpPr/>
          <p:nvPr/>
        </p:nvSpPr>
        <p:spPr>
          <a:xfrm>
            <a:off x="7381056" y="4029075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111827"/>
          </a:solidFill>
          <a:ln w="38100" cap="flat" cmpd="sng">
            <a:solidFill>
              <a:srgbClr val="38BDF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7"/>
          <p:cNvSpPr/>
          <p:nvPr/>
        </p:nvSpPr>
        <p:spPr>
          <a:xfrm>
            <a:off x="10180066" y="4029075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111827"/>
          </a:solidFill>
          <a:ln w="38100" cap="flat" cmpd="sng">
            <a:solidFill>
              <a:srgbClr val="38BDF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17"/>
          <p:cNvSpPr txBox="1"/>
          <p:nvPr/>
        </p:nvSpPr>
        <p:spPr>
          <a:xfrm>
            <a:off x="571500" y="571500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Protocollo Sperimentale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5" name="Google Shape;155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18"/>
          <p:cNvSpPr txBox="1"/>
          <p:nvPr/>
        </p:nvSpPr>
        <p:spPr>
          <a:xfrm>
            <a:off x="1809750" y="2362200"/>
            <a:ext cx="904875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chemeClr val="bg1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1</a:t>
            </a:r>
            <a:r>
              <a:rPr lang="en-US" sz="1500" dirty="0">
                <a:solidFill>
                  <a:schemeClr val="bg1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) </a:t>
            </a:r>
            <a:r>
              <a:rPr lang="en-US" sz="1500" b="0" i="0" u="none" strike="noStrike" cap="none" dirty="0">
                <a:solidFill>
                  <a:schemeClr val="bg1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Preprocessing </a:t>
            </a:r>
            <a:r>
              <a:rPr lang="en-US" sz="1500" b="0" i="0" u="none" strike="noStrike" cap="none" dirty="0" err="1">
                <a:solidFill>
                  <a:schemeClr val="bg1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Segnali</a:t>
            </a:r>
            <a:r>
              <a:rPr lang="en-US" sz="1500" b="0" i="0" u="none" strike="noStrike" cap="none" dirty="0">
                <a:solidFill>
                  <a:schemeClr val="bg1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:</a:t>
            </a:r>
            <a:r>
              <a:rPr lang="en-US" sz="1500" b="0" i="0" u="none" strike="noStrike" cap="none" dirty="0">
                <a:solidFill>
                  <a:schemeClr val="bg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50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Filtraggio</a:t>
            </a:r>
            <a:r>
              <a:rPr lang="en-US" sz="150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50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dei</a:t>
            </a:r>
            <a:r>
              <a:rPr lang="en-US" sz="150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50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disturbi</a:t>
            </a:r>
            <a:r>
              <a:rPr lang="en-US" sz="150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, </a:t>
            </a:r>
            <a:r>
              <a:rPr lang="en-US" sz="150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rimozione</a:t>
            </a:r>
            <a:r>
              <a:rPr lang="en-US" sz="150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degli </a:t>
            </a:r>
            <a:r>
              <a:rPr lang="en-US" sz="150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artefatti</a:t>
            </a:r>
            <a:r>
              <a:rPr lang="en-US" sz="150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e </a:t>
            </a:r>
            <a:r>
              <a:rPr lang="en-US" sz="150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allineamento</a:t>
            </a:r>
            <a:r>
              <a:rPr lang="en-US" sz="150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50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frequenze</a:t>
            </a:r>
            <a:r>
              <a:rPr lang="en-US" sz="150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57" name="Google Shape;157;p18"/>
          <p:cNvSpPr txBox="1"/>
          <p:nvPr/>
        </p:nvSpPr>
        <p:spPr>
          <a:xfrm>
            <a:off x="1809750" y="2905125"/>
            <a:ext cx="904890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chemeClr val="bg1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2) </a:t>
            </a:r>
            <a:r>
              <a:rPr lang="en-US" sz="1500" b="0" i="0" u="none" strike="noStrike" cap="none" dirty="0" err="1">
                <a:solidFill>
                  <a:schemeClr val="bg1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Segmentazion</a:t>
            </a:r>
            <a:r>
              <a:rPr lang="en-US" sz="1500" dirty="0" err="1">
                <a:solidFill>
                  <a:schemeClr val="bg1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e</a:t>
            </a:r>
            <a:r>
              <a:rPr lang="en-US" sz="1500" b="0" i="0" u="none" strike="noStrike" cap="none" dirty="0">
                <a:solidFill>
                  <a:schemeClr val="bg1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:</a:t>
            </a:r>
            <a:r>
              <a:rPr lang="en-US" sz="1500" b="0" i="0" u="none" strike="noStrike" cap="none" dirty="0">
                <a:solidFill>
                  <a:schemeClr val="bg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50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Divisione</a:t>
            </a:r>
            <a:r>
              <a:rPr lang="en-US" sz="150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50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dei</a:t>
            </a:r>
            <a:r>
              <a:rPr lang="en-US" sz="150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50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dati</a:t>
            </a:r>
            <a:r>
              <a:rPr lang="en-US" sz="150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in </a:t>
            </a:r>
            <a:r>
              <a:rPr lang="en-US" sz="150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finestre</a:t>
            </a:r>
            <a:r>
              <a:rPr lang="en-US" sz="150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50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temporali</a:t>
            </a:r>
            <a:r>
              <a:rPr lang="en-US" sz="150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da 60 secondi con overlapping di 30 secondi.</a:t>
            </a:r>
            <a:endParaRPr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58" name="Google Shape;158;p18"/>
          <p:cNvSpPr txBox="1"/>
          <p:nvPr/>
        </p:nvSpPr>
        <p:spPr>
          <a:xfrm>
            <a:off x="1809750" y="3752850"/>
            <a:ext cx="904875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chemeClr val="bg1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3</a:t>
            </a:r>
            <a:r>
              <a:rPr lang="en-US" sz="1500" dirty="0">
                <a:solidFill>
                  <a:schemeClr val="bg1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)</a:t>
            </a:r>
            <a:r>
              <a:rPr lang="en-US" sz="1500" b="0" i="0" u="none" strike="noStrike" cap="none" dirty="0">
                <a:solidFill>
                  <a:schemeClr val="bg1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</a:t>
            </a:r>
            <a:r>
              <a:rPr lang="en-US" sz="1500" b="0" i="0" u="none" strike="noStrike" cap="none" dirty="0" err="1">
                <a:solidFill>
                  <a:schemeClr val="bg1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Estrazione</a:t>
            </a:r>
            <a:r>
              <a:rPr lang="en-US" sz="1500" b="0" i="0" u="none" strike="noStrike" cap="none" dirty="0">
                <a:solidFill>
                  <a:schemeClr val="bg1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Feature:</a:t>
            </a:r>
            <a:r>
              <a:rPr lang="en-US" sz="1500" b="0" i="0" u="none" strike="noStrike" cap="none" dirty="0">
                <a:solidFill>
                  <a:schemeClr val="bg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50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Calcolo</a:t>
            </a:r>
            <a:r>
              <a:rPr lang="en-US" sz="150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di </a:t>
            </a:r>
            <a:r>
              <a:rPr lang="en-US" sz="150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parametri</a:t>
            </a:r>
            <a:r>
              <a:rPr lang="en-US" sz="150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50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statistici</a:t>
            </a:r>
            <a:r>
              <a:rPr lang="en-US" sz="150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, </a:t>
            </a:r>
            <a:r>
              <a:rPr lang="en-US" sz="150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temporali</a:t>
            </a:r>
            <a:r>
              <a:rPr lang="en-US" sz="150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e </a:t>
            </a:r>
            <a:r>
              <a:rPr lang="en-US" sz="150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analisi</a:t>
            </a:r>
            <a:r>
              <a:rPr lang="en-US" sz="150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50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dei</a:t>
            </a:r>
            <a:r>
              <a:rPr lang="en-US" sz="150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50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picchi</a:t>
            </a:r>
            <a:r>
              <a:rPr lang="en-US" sz="150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per </a:t>
            </a:r>
            <a:r>
              <a:rPr lang="en-US" sz="150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ciascuna</a:t>
            </a:r>
            <a:r>
              <a:rPr lang="en-US" sz="150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50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finestra</a:t>
            </a:r>
            <a:r>
              <a:rPr lang="en-US" sz="150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59" name="Google Shape;159;p18"/>
          <p:cNvSpPr txBox="1"/>
          <p:nvPr/>
        </p:nvSpPr>
        <p:spPr>
          <a:xfrm>
            <a:off x="1809750" y="4600575"/>
            <a:ext cx="904890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chemeClr val="bg1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4) Machine Learning:</a:t>
            </a:r>
            <a:r>
              <a:rPr lang="en-US" sz="1500" b="0" i="0" u="none" strike="noStrike" cap="none" dirty="0">
                <a:solidFill>
                  <a:schemeClr val="bg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50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Addestramento</a:t>
            </a:r>
            <a:r>
              <a:rPr lang="en-US" sz="150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e </a:t>
            </a:r>
            <a:r>
              <a:rPr lang="en-US" sz="150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validazione</a:t>
            </a:r>
            <a:r>
              <a:rPr lang="en-US" sz="150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50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tramite</a:t>
            </a:r>
            <a:r>
              <a:rPr lang="en-US" sz="150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50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10-Fold Cross-Validation, </a:t>
            </a:r>
            <a:r>
              <a:rPr lang="en-US" sz="150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bilanciamento</a:t>
            </a:r>
            <a:r>
              <a:rPr lang="en-US" sz="150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e </a:t>
            </a:r>
            <a:r>
              <a:rPr lang="en-US" sz="150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classificazione</a:t>
            </a:r>
            <a:r>
              <a:rPr lang="en-US" sz="150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(Stress vs Rest).</a:t>
            </a:r>
            <a:endParaRPr dirty="0">
              <a:solidFill>
                <a:schemeClr val="bg1">
                  <a:lumMod val="85000"/>
                </a:schemeClr>
              </a:solidFill>
            </a:endParaRPr>
          </a:p>
        </p:txBody>
      </p:sp>
      <p:pic>
        <p:nvPicPr>
          <p:cNvPr id="160" name="Google Shape;160;p1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333500" y="2395537"/>
            <a:ext cx="266700" cy="276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1" name="Google Shape;161;p18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333500" y="2938462"/>
            <a:ext cx="266700" cy="276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2" name="Google Shape;162;p18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333500" y="3786187"/>
            <a:ext cx="304800" cy="276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3" name="Google Shape;163;p18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333500" y="4633912"/>
            <a:ext cx="333375" cy="276225"/>
          </a:xfrm>
          <a:prstGeom prst="rect">
            <a:avLst/>
          </a:prstGeom>
          <a:noFill/>
          <a:ln>
            <a:noFill/>
          </a:ln>
        </p:spPr>
      </p:pic>
      <p:sp>
        <p:nvSpPr>
          <p:cNvPr id="164" name="Google Shape;164;p18"/>
          <p:cNvSpPr txBox="1"/>
          <p:nvPr/>
        </p:nvSpPr>
        <p:spPr>
          <a:xfrm>
            <a:off x="571500" y="571500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Pipeline di Elaborazione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9" name="Google Shape;169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0" name="Google Shape;170;p1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34125" y="2095500"/>
            <a:ext cx="5286375" cy="3619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1" name="Google Shape;171;p19"/>
          <p:cNvSpPr txBox="1"/>
          <p:nvPr/>
        </p:nvSpPr>
        <p:spPr>
          <a:xfrm>
            <a:off x="571500" y="2095500"/>
            <a:ext cx="5286375" cy="332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 dirty="0" err="1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Segnale</a:t>
            </a:r>
            <a:r>
              <a:rPr lang="en-US" sz="1350" b="1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BVP (</a:t>
            </a:r>
            <a:r>
              <a:rPr lang="en-US" sz="1350" b="1" i="0" u="none" strike="noStrike" cap="none" dirty="0" err="1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Fotopletismografia</a:t>
            </a:r>
            <a:r>
              <a:rPr lang="en-US" sz="1350" b="1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):</a:t>
            </a:r>
            <a:endParaRPr dirty="0">
              <a:solidFill>
                <a:schemeClr val="bg2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172" name="Google Shape;172;p19"/>
          <p:cNvSpPr txBox="1"/>
          <p:nvPr/>
        </p:nvSpPr>
        <p:spPr>
          <a:xfrm>
            <a:off x="571425" y="3910860"/>
            <a:ext cx="5286375" cy="2492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 dirty="0" err="1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Segnale</a:t>
            </a:r>
            <a:r>
              <a:rPr lang="en-US" sz="1350" b="1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EDA (</a:t>
            </a:r>
            <a:r>
              <a:rPr lang="en-US" sz="1350" b="1" i="0" u="none" strike="noStrike" cap="none" dirty="0" err="1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Attività</a:t>
            </a:r>
            <a:r>
              <a:rPr lang="en-US" sz="1350" b="1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1" i="0" u="none" strike="noStrike" cap="none" dirty="0" err="1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Elettrodermica</a:t>
            </a:r>
            <a:r>
              <a:rPr lang="en-US" sz="1350" b="1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):</a:t>
            </a:r>
            <a:endParaRPr dirty="0">
              <a:solidFill>
                <a:schemeClr val="bg2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174" name="Google Shape;174;p19"/>
          <p:cNvSpPr txBox="1"/>
          <p:nvPr/>
        </p:nvSpPr>
        <p:spPr>
          <a:xfrm>
            <a:off x="952500" y="2482785"/>
            <a:ext cx="4914900" cy="1329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250" tIns="0" rIns="0" bIns="0" anchor="t" anchorCtr="0">
            <a:spAutoFit/>
          </a:bodyPr>
          <a:lstStyle/>
          <a:p>
            <a:pPr marL="285750" marR="0" lvl="0" indent="-2857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Filtraggio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Passa-Banda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(range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0.5 - 5 Hz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)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tramite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filtro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Butterworth 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(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4°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ordine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) per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isolare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la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pulsazione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arteriosa. </a:t>
            </a:r>
          </a:p>
          <a:p>
            <a:pPr marL="285750" marR="0" lvl="0" indent="-2857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Ca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lcolo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della prima e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seconda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derivate del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segnale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lang="en-US" sz="1350" b="0" i="0" u="none" strike="noStrike" cap="none" dirty="0">
              <a:solidFill>
                <a:schemeClr val="bg1">
                  <a:lumMod val="85000"/>
                </a:schemeClr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78" name="Google Shape;178;p19"/>
          <p:cNvSpPr txBox="1"/>
          <p:nvPr/>
        </p:nvSpPr>
        <p:spPr>
          <a:xfrm>
            <a:off x="952500" y="4198441"/>
            <a:ext cx="4905300" cy="16619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250" tIns="0" rIns="0" bIns="0" anchor="t" anchorCtr="0">
            <a:spAutoFit/>
          </a:bodyPr>
          <a:lstStyle/>
          <a:p>
            <a:pPr marL="285750" marR="0" lvl="0" indent="-2857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Filtro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Passa-Basso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per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rimuovere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il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rumore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ad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alta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frequenza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</a:p>
          <a:p>
            <a:pPr marL="285750" marR="0" lvl="0" indent="-2857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Estrazione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della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componente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Tonica (lenta) e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Fasica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(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rapida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) per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contare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I Picchi (Skin Conductance Responses).</a:t>
            </a:r>
          </a:p>
        </p:txBody>
      </p:sp>
      <p:pic>
        <p:nvPicPr>
          <p:cNvPr id="181" name="Google Shape;181;p19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43650" y="2105025"/>
            <a:ext cx="5267325" cy="3600450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19"/>
          <p:cNvSpPr txBox="1"/>
          <p:nvPr/>
        </p:nvSpPr>
        <p:spPr>
          <a:xfrm>
            <a:off x="571500" y="571500"/>
            <a:ext cx="11601450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 dirty="0">
                <a:solidFill>
                  <a:schemeClr val="bg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Preprocessing </a:t>
            </a:r>
            <a:r>
              <a:rPr lang="en-US" sz="3000" b="0" i="0" u="none" strike="noStrike" cap="none" dirty="0" err="1">
                <a:solidFill>
                  <a:schemeClr val="bg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Segnali</a:t>
            </a:r>
            <a:endParaRPr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7" name="Google Shape;187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8" name="Google Shape;188;p2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152650"/>
            <a:ext cx="3492549" cy="3505051"/>
          </a:xfrm>
          <a:prstGeom prst="rect">
            <a:avLst/>
          </a:prstGeom>
          <a:noFill/>
          <a:ln>
            <a:noFill/>
          </a:ln>
        </p:spPr>
      </p:pic>
      <p:pic>
        <p:nvPicPr>
          <p:cNvPr id="189" name="Google Shape;189;p20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49799" y="2152650"/>
            <a:ext cx="3492549" cy="350505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0" name="Google Shape;190;p20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128099" y="2152650"/>
            <a:ext cx="3492549" cy="350505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1" name="Google Shape;191;p20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866775" y="2447925"/>
            <a:ext cx="666750" cy="666750"/>
          </a:xfrm>
          <a:prstGeom prst="rect">
            <a:avLst/>
          </a:prstGeom>
          <a:noFill/>
          <a:ln>
            <a:noFill/>
          </a:ln>
        </p:spPr>
      </p:pic>
      <p:sp>
        <p:nvSpPr>
          <p:cNvPr id="192" name="Google Shape;192;p20"/>
          <p:cNvSpPr txBox="1"/>
          <p:nvPr/>
        </p:nvSpPr>
        <p:spPr>
          <a:xfrm>
            <a:off x="866775" y="3305175"/>
            <a:ext cx="1750218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Overlapping</a:t>
            </a:r>
            <a:endParaRPr dirty="0"/>
          </a:p>
        </p:txBody>
      </p:sp>
      <p:sp>
        <p:nvSpPr>
          <p:cNvPr id="193" name="Google Shape;193;p20"/>
          <p:cNvSpPr txBox="1"/>
          <p:nvPr/>
        </p:nvSpPr>
        <p:spPr>
          <a:xfrm>
            <a:off x="866775" y="3848100"/>
            <a:ext cx="2901900" cy="1329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Introdotto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uno step 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di 30 secondi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sulle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finestre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di 60 per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raddoppiare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il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numero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dei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campioni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e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rilevare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eventuali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passaggi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di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stato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dirty="0">
              <a:solidFill>
                <a:schemeClr val="bg1">
                  <a:lumMod val="85000"/>
                </a:schemeClr>
              </a:solidFill>
            </a:endParaRPr>
          </a:p>
        </p:txBody>
      </p:sp>
      <p:pic>
        <p:nvPicPr>
          <p:cNvPr id="194" name="Google Shape;194;p20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645074" y="2447925"/>
            <a:ext cx="666750" cy="666750"/>
          </a:xfrm>
          <a:prstGeom prst="rect">
            <a:avLst/>
          </a:prstGeom>
          <a:noFill/>
          <a:ln>
            <a:noFill/>
          </a:ln>
        </p:spPr>
      </p:pic>
      <p:sp>
        <p:nvSpPr>
          <p:cNvPr id="195" name="Google Shape;195;p20"/>
          <p:cNvSpPr txBox="1"/>
          <p:nvPr/>
        </p:nvSpPr>
        <p:spPr>
          <a:xfrm>
            <a:off x="4645074" y="3305175"/>
            <a:ext cx="1950243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Sensor Fusion</a:t>
            </a:r>
            <a:endParaRPr dirty="0"/>
          </a:p>
        </p:txBody>
      </p:sp>
      <p:sp>
        <p:nvSpPr>
          <p:cNvPr id="196" name="Google Shape;196;p20"/>
          <p:cNvSpPr txBox="1"/>
          <p:nvPr/>
        </p:nvSpPr>
        <p:spPr>
          <a:xfrm>
            <a:off x="4645075" y="3848100"/>
            <a:ext cx="2901900" cy="16619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Inclusione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delle derivate BVP,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Temperatura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(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superficiale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/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periferica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)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filtrata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mediamente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e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dati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accelerometro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(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movimenti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)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dirty="0">
              <a:solidFill>
                <a:schemeClr val="bg1">
                  <a:lumMod val="85000"/>
                </a:schemeClr>
              </a:solidFill>
            </a:endParaRPr>
          </a:p>
        </p:txBody>
      </p:sp>
      <p:pic>
        <p:nvPicPr>
          <p:cNvPr id="197" name="Google Shape;197;p20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8423374" y="2447925"/>
            <a:ext cx="666750" cy="666750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20"/>
          <p:cNvSpPr txBox="1"/>
          <p:nvPr/>
        </p:nvSpPr>
        <p:spPr>
          <a:xfrm>
            <a:off x="8423374" y="3305175"/>
            <a:ext cx="1340167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 err="1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RUSBoost</a:t>
            </a:r>
            <a:endParaRPr dirty="0"/>
          </a:p>
        </p:txBody>
      </p:sp>
      <p:sp>
        <p:nvSpPr>
          <p:cNvPr id="199" name="Google Shape;199;p20"/>
          <p:cNvSpPr txBox="1"/>
          <p:nvPr/>
        </p:nvSpPr>
        <p:spPr>
          <a:xfrm>
            <a:off x="8423374" y="3848100"/>
            <a:ext cx="2901900" cy="16619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Per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mitigare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lo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sbilanciamento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del dataset 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(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essendoci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più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campioni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di 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Stress), è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stato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utilizzato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l'algoritmo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RUSBoost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nell'ensemble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Random Forest.</a:t>
            </a:r>
            <a:endParaRPr dirty="0">
              <a:solidFill>
                <a:schemeClr val="bg1">
                  <a:lumMod val="85000"/>
                </a:schemeClr>
              </a:solidFill>
            </a:endParaRPr>
          </a:p>
        </p:txBody>
      </p:sp>
      <p:pic>
        <p:nvPicPr>
          <p:cNvPr id="200" name="Google Shape;200;p20" descr="image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985837" y="2590800"/>
            <a:ext cx="428625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1" name="Google Shape;201;p20" descr="image.png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4787949" y="2590800"/>
            <a:ext cx="38100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2" name="Google Shape;202;p20" descr="image.png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8518624" y="2590800"/>
            <a:ext cx="47625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203" name="Google Shape;203;p20"/>
          <p:cNvSpPr txBox="1"/>
          <p:nvPr/>
        </p:nvSpPr>
        <p:spPr>
          <a:xfrm>
            <a:off x="571500" y="571500"/>
            <a:ext cx="11049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dirty="0" err="1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Miglioramenti</a:t>
            </a:r>
            <a:r>
              <a:rPr lang="en-US" sz="3000" dirty="0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 rispetto al Paper</a:t>
            </a:r>
            <a:endParaRPr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8" name="Google Shape;208;p2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09" name="Google Shape;209;p21"/>
          <p:cNvGraphicFramePr/>
          <p:nvPr>
            <p:extLst>
              <p:ext uri="{D42A27DB-BD31-4B8C-83A1-F6EECF244321}">
                <p14:modId xmlns:p14="http://schemas.microsoft.com/office/powerpoint/2010/main" val="4070067608"/>
              </p:ext>
            </p:extLst>
          </p:nvPr>
        </p:nvGraphicFramePr>
        <p:xfrm>
          <a:off x="571500" y="1896516"/>
          <a:ext cx="11049000" cy="4017500"/>
        </p:xfrm>
        <a:graphic>
          <a:graphicData uri="http://schemas.openxmlformats.org/drawingml/2006/table">
            <a:tbl>
              <a:tblPr firstRow="1" bandRow="1">
                <a:noFill/>
                <a:tableStyleId>{DA420689-7505-438F-932B-000085F4ABB9}</a:tableStyleId>
              </a:tblPr>
              <a:tblGrid>
                <a:gridCol w="19783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224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481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035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 dirty="0" err="1">
                          <a:solidFill>
                            <a:srgbClr val="38BDF8"/>
                          </a:solidFill>
                          <a:latin typeface="Inter SemiBold"/>
                          <a:ea typeface="Inter SemiBold"/>
                          <a:cs typeface="Inter SemiBold"/>
                          <a:sym typeface="Inter SemiBold"/>
                        </a:rPr>
                        <a:t>Segnale</a:t>
                      </a:r>
                      <a:r>
                        <a:rPr lang="en-US" sz="1500" b="0" dirty="0">
                          <a:solidFill>
                            <a:srgbClr val="38BDF8"/>
                          </a:solidFill>
                          <a:latin typeface="Inter SemiBold"/>
                          <a:ea typeface="Inter SemiBold"/>
                          <a:cs typeface="Inter SemiBold"/>
                          <a:sym typeface="Inter SemiBold"/>
                        </a:rPr>
                        <a:t>/</a:t>
                      </a:r>
                      <a:r>
                        <a:rPr lang="en-US" sz="1500" b="0" i="0" u="none" strike="noStrike" cap="none" dirty="0" err="1">
                          <a:solidFill>
                            <a:srgbClr val="38BDF8"/>
                          </a:solidFill>
                          <a:latin typeface="Inter SemiBold"/>
                          <a:ea typeface="Inter SemiBold"/>
                          <a:cs typeface="Inter SemiBold"/>
                          <a:sym typeface="Inter SemiBold"/>
                        </a:rPr>
                        <a:t>Sensore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38BDF8"/>
                          </a:solidFill>
                          <a:latin typeface="Inter SemiBold"/>
                          <a:ea typeface="Inter SemiBold"/>
                          <a:cs typeface="Inter SemiBold"/>
                          <a:sym typeface="Inter SemiBold"/>
                        </a:rPr>
                        <a:t>Dominio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 dirty="0">
                          <a:solidFill>
                            <a:srgbClr val="38BDF8"/>
                          </a:solidFill>
                          <a:latin typeface="Inter SemiBold"/>
                          <a:ea typeface="Inter SemiBold"/>
                          <a:cs typeface="Inter SemiBold"/>
                          <a:sym typeface="Inter SemiBold"/>
                        </a:rPr>
                        <a:t>Feature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035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1" i="0" u="none" strike="noStrike" cap="none" dirty="0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BVP / PPG</a:t>
                      </a:r>
                      <a:endParaRPr dirty="0">
                        <a:solidFill>
                          <a:schemeClr val="bg2">
                            <a:lumMod val="20000"/>
                            <a:lumOff val="80000"/>
                          </a:schemeClr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dirty="0" err="1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Statistico</a:t>
                      </a:r>
                      <a:r>
                        <a:rPr lang="en-US" sz="1350" dirty="0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/</a:t>
                      </a:r>
                      <a:r>
                        <a:rPr lang="en-US" sz="1350" b="0" i="0" u="none" strike="noStrike" cap="none" dirty="0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Tempo</a:t>
                      </a:r>
                      <a:endParaRPr dirty="0">
                        <a:solidFill>
                          <a:schemeClr val="bg2">
                            <a:lumMod val="20000"/>
                            <a:lumOff val="80000"/>
                          </a:schemeClr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 dirty="0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Media/</a:t>
                      </a:r>
                      <a:r>
                        <a:rPr lang="en-US" sz="1350" dirty="0" err="1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Deviazione</a:t>
                      </a:r>
                      <a:r>
                        <a:rPr lang="en-US" sz="1350" dirty="0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 Standard</a:t>
                      </a:r>
                      <a:r>
                        <a:rPr lang="en-US" sz="1350" b="0" i="0" u="none" strike="noStrike" cap="none" dirty="0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 PPI, Mean HR, </a:t>
                      </a:r>
                      <a:r>
                        <a:rPr lang="en-US" sz="1350" dirty="0" err="1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Deviazione</a:t>
                      </a:r>
                      <a:r>
                        <a:rPr lang="en-US" sz="1350" dirty="0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 Standard </a:t>
                      </a:r>
                      <a:r>
                        <a:rPr lang="en-US" sz="1350" b="0" i="0" u="none" strike="noStrike" cap="none" dirty="0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HR, RMSSD, SD2, Derivate (d1, d2)</a:t>
                      </a:r>
                      <a:endParaRPr dirty="0">
                        <a:solidFill>
                          <a:schemeClr val="bg2">
                            <a:lumMod val="20000"/>
                            <a:lumOff val="80000"/>
                          </a:schemeClr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035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1" i="0" u="none" strike="noStrike" cap="none" dirty="0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EDA</a:t>
                      </a:r>
                      <a:endParaRPr dirty="0">
                        <a:solidFill>
                          <a:schemeClr val="bg2">
                            <a:lumMod val="20000"/>
                            <a:lumOff val="80000"/>
                          </a:schemeClr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 dirty="0" err="1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Statistico</a:t>
                      </a:r>
                      <a:r>
                        <a:rPr lang="en-US" sz="1350" b="0" i="0" u="none" strike="noStrike" cap="none" dirty="0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/</a:t>
                      </a:r>
                      <a:r>
                        <a:rPr lang="en-US" sz="1350" b="0" i="0" u="none" strike="noStrike" cap="none" dirty="0" err="1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Eventi</a:t>
                      </a:r>
                      <a:endParaRPr dirty="0">
                        <a:solidFill>
                          <a:schemeClr val="bg2">
                            <a:lumMod val="20000"/>
                            <a:lumOff val="80000"/>
                          </a:schemeClr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350" b="0" i="0" u="none" strike="noStrike" cap="none" dirty="0">
                        <a:solidFill>
                          <a:schemeClr val="bg2">
                            <a:lumMod val="20000"/>
                            <a:lumOff val="80000"/>
                          </a:schemeClr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 dirty="0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Media, </a:t>
                      </a:r>
                      <a:r>
                        <a:rPr lang="en-US" sz="1350" b="0" i="0" u="none" strike="noStrike" cap="none" dirty="0" err="1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Deviazione</a:t>
                      </a:r>
                      <a:r>
                        <a:rPr lang="en-US" sz="1350" b="0" i="0" u="none" strike="noStrike" cap="none" dirty="0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 Standard, </a:t>
                      </a:r>
                      <a:r>
                        <a:rPr lang="en-US" sz="1350" b="0" i="0" u="none" strike="noStrike" cap="none" dirty="0" err="1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Numero</a:t>
                      </a:r>
                      <a:r>
                        <a:rPr lang="en-US" sz="1350" b="0" i="0" u="none" strike="noStrike" cap="none" dirty="0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 di Picchi </a:t>
                      </a:r>
                      <a:r>
                        <a:rPr lang="en-US" sz="1350" b="0" i="0" u="none" strike="noStrike" cap="none" dirty="0" err="1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Fasici</a:t>
                      </a:r>
                      <a:r>
                        <a:rPr lang="en-US" sz="1350" b="0" i="0" u="none" strike="noStrike" cap="none" dirty="0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 (SCR), </a:t>
                      </a:r>
                      <a:r>
                        <a:rPr lang="en-US" sz="1350" b="0" i="0" u="none" strike="noStrike" cap="none" dirty="0" err="1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Ampiezza</a:t>
                      </a:r>
                      <a:r>
                        <a:rPr lang="en-US" sz="1350" b="0" i="0" u="none" strike="noStrike" cap="none" dirty="0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 Media SCR</a:t>
                      </a:r>
                      <a:endParaRPr dirty="0">
                        <a:solidFill>
                          <a:schemeClr val="bg2">
                            <a:lumMod val="20000"/>
                            <a:lumOff val="80000"/>
                          </a:schemeClr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035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1" i="0" u="none" strike="noStrike" cap="none" dirty="0" err="1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Temperatura</a:t>
                      </a:r>
                      <a:endParaRPr dirty="0">
                        <a:solidFill>
                          <a:schemeClr val="bg2">
                            <a:lumMod val="20000"/>
                            <a:lumOff val="80000"/>
                          </a:schemeClr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 dirty="0" err="1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Statistico</a:t>
                      </a:r>
                      <a:endParaRPr dirty="0">
                        <a:solidFill>
                          <a:schemeClr val="bg2">
                            <a:lumMod val="20000"/>
                            <a:lumOff val="80000"/>
                          </a:schemeClr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 dirty="0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Media </a:t>
                      </a:r>
                      <a:r>
                        <a:rPr lang="en-US" sz="1350" b="0" i="0" u="none" strike="noStrike" cap="none" dirty="0" err="1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termica</a:t>
                      </a:r>
                      <a:r>
                        <a:rPr lang="en-US" sz="1350" b="0" i="0" u="none" strike="noStrike" cap="none" dirty="0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, </a:t>
                      </a:r>
                      <a:r>
                        <a:rPr lang="en-US" sz="1350" b="0" i="0" u="none" strike="noStrike" cap="none" dirty="0" err="1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Deviazione</a:t>
                      </a:r>
                      <a:r>
                        <a:rPr lang="en-US" sz="1350" b="0" i="0" u="none" strike="noStrike" cap="none" dirty="0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 Standard, </a:t>
                      </a:r>
                      <a:r>
                        <a:rPr lang="en-US" sz="1350" b="0" i="0" u="none" strike="noStrike" cap="none" dirty="0" err="1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Coefficiente</a:t>
                      </a:r>
                      <a:r>
                        <a:rPr lang="en-US" sz="1350" b="0" i="0" u="none" strike="noStrike" cap="none" dirty="0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 </a:t>
                      </a:r>
                      <a:r>
                        <a:rPr lang="en-US" sz="1350" b="0" i="0" u="none" strike="noStrike" cap="none" dirty="0" err="1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Angolare</a:t>
                      </a:r>
                      <a:r>
                        <a:rPr lang="en-US" sz="1350" b="0" i="0" u="none" strike="noStrike" cap="none" dirty="0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 (Slope) del trend</a:t>
                      </a:r>
                      <a:endParaRPr dirty="0">
                        <a:solidFill>
                          <a:schemeClr val="bg2">
                            <a:lumMod val="20000"/>
                            <a:lumOff val="80000"/>
                          </a:schemeClr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035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1" i="0" u="none" strike="noStrike" cap="none" dirty="0" err="1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Accelerometro</a:t>
                      </a:r>
                      <a:endParaRPr dirty="0">
                        <a:solidFill>
                          <a:schemeClr val="bg2">
                            <a:lumMod val="20000"/>
                            <a:lumOff val="80000"/>
                          </a:schemeClr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 dirty="0" err="1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Cinematico</a:t>
                      </a:r>
                      <a:r>
                        <a:rPr lang="en-US" sz="1350" b="0" i="0" u="none" strike="noStrike" cap="none" dirty="0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/Moto</a:t>
                      </a:r>
                      <a:endParaRPr dirty="0">
                        <a:solidFill>
                          <a:schemeClr val="bg2">
                            <a:lumMod val="20000"/>
                            <a:lumOff val="80000"/>
                          </a:schemeClr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 dirty="0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Media della </a:t>
                      </a:r>
                      <a:r>
                        <a:rPr lang="en-US" sz="1350" b="0" i="0" u="none" strike="noStrike" cap="none" dirty="0" err="1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Magnitudo</a:t>
                      </a:r>
                      <a:r>
                        <a:rPr lang="en-US" sz="1350" b="0" i="0" u="none" strike="noStrike" cap="none" dirty="0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 3D, </a:t>
                      </a:r>
                      <a:r>
                        <a:rPr lang="en-US" sz="1350" b="0" i="0" u="none" strike="noStrike" cap="none" dirty="0" err="1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Deviazione</a:t>
                      </a:r>
                      <a:r>
                        <a:rPr lang="en-US" sz="1350" b="0" i="0" u="none" strike="noStrike" cap="none" dirty="0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 Standard </a:t>
                      </a:r>
                      <a:r>
                        <a:rPr lang="en-US" sz="1350" b="0" i="0" u="none" strike="noStrike" cap="none" dirty="0" err="1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dei</a:t>
                      </a:r>
                      <a:r>
                        <a:rPr lang="en-US" sz="1350" b="0" i="0" u="none" strike="noStrike" cap="none" dirty="0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 </a:t>
                      </a:r>
                      <a:r>
                        <a:rPr lang="en-US" sz="1350" b="0" i="0" u="none" strike="noStrike" cap="none" dirty="0" err="1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movimenti</a:t>
                      </a:r>
                      <a:endParaRPr dirty="0">
                        <a:solidFill>
                          <a:schemeClr val="bg2">
                            <a:lumMod val="20000"/>
                            <a:lumOff val="80000"/>
                          </a:schemeClr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10" name="Google Shape;210;p21"/>
          <p:cNvSpPr/>
          <p:nvPr/>
        </p:nvSpPr>
        <p:spPr>
          <a:xfrm>
            <a:off x="571500" y="2839491"/>
            <a:ext cx="1978372" cy="1905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21"/>
          <p:cNvSpPr/>
          <p:nvPr/>
        </p:nvSpPr>
        <p:spPr>
          <a:xfrm>
            <a:off x="2549872" y="2839491"/>
            <a:ext cx="2322462" cy="1905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21"/>
          <p:cNvSpPr/>
          <p:nvPr/>
        </p:nvSpPr>
        <p:spPr>
          <a:xfrm>
            <a:off x="4872335" y="2839491"/>
            <a:ext cx="6748164" cy="1905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1"/>
          <p:cNvSpPr/>
          <p:nvPr/>
        </p:nvSpPr>
        <p:spPr>
          <a:xfrm>
            <a:off x="571500" y="3674278"/>
            <a:ext cx="1978372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21"/>
          <p:cNvSpPr/>
          <p:nvPr/>
        </p:nvSpPr>
        <p:spPr>
          <a:xfrm>
            <a:off x="2549872" y="3674278"/>
            <a:ext cx="2322462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21"/>
          <p:cNvSpPr/>
          <p:nvPr/>
        </p:nvSpPr>
        <p:spPr>
          <a:xfrm>
            <a:off x="4872335" y="3674278"/>
            <a:ext cx="6748164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21"/>
          <p:cNvSpPr/>
          <p:nvPr/>
        </p:nvSpPr>
        <p:spPr>
          <a:xfrm>
            <a:off x="571500" y="4518590"/>
            <a:ext cx="1978500" cy="960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21"/>
          <p:cNvSpPr/>
          <p:nvPr/>
        </p:nvSpPr>
        <p:spPr>
          <a:xfrm>
            <a:off x="2549872" y="4518590"/>
            <a:ext cx="2322600" cy="960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21"/>
          <p:cNvSpPr/>
          <p:nvPr/>
        </p:nvSpPr>
        <p:spPr>
          <a:xfrm>
            <a:off x="4872335" y="4518590"/>
            <a:ext cx="6748200" cy="960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21"/>
          <p:cNvSpPr/>
          <p:nvPr/>
        </p:nvSpPr>
        <p:spPr>
          <a:xfrm>
            <a:off x="571500" y="5282505"/>
            <a:ext cx="1978372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21"/>
          <p:cNvSpPr/>
          <p:nvPr/>
        </p:nvSpPr>
        <p:spPr>
          <a:xfrm>
            <a:off x="2549872" y="5282505"/>
            <a:ext cx="2322462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21"/>
          <p:cNvSpPr/>
          <p:nvPr/>
        </p:nvSpPr>
        <p:spPr>
          <a:xfrm>
            <a:off x="4872335" y="5282505"/>
            <a:ext cx="6748164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21"/>
          <p:cNvSpPr txBox="1"/>
          <p:nvPr/>
        </p:nvSpPr>
        <p:spPr>
          <a:xfrm>
            <a:off x="571500" y="571500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Estrazione delle Feature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7" name="Google Shape;227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8" name="Google Shape;228;p22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623244"/>
            <a:ext cx="5286375" cy="256401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9" name="Google Shape;229;p22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34125" y="2623244"/>
            <a:ext cx="5286375" cy="2564010"/>
          </a:xfrm>
          <a:prstGeom prst="rect">
            <a:avLst/>
          </a:prstGeom>
          <a:noFill/>
          <a:ln>
            <a:noFill/>
          </a:ln>
        </p:spPr>
      </p:pic>
      <p:sp>
        <p:nvSpPr>
          <p:cNvPr id="230" name="Google Shape;230;p22"/>
          <p:cNvSpPr txBox="1"/>
          <p:nvPr/>
        </p:nvSpPr>
        <p:spPr>
          <a:xfrm>
            <a:off x="962025" y="3013769"/>
            <a:ext cx="4730591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 err="1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RUSBoost</a:t>
            </a:r>
            <a:r>
              <a:rPr lang="en-US" sz="2100" b="0" i="0" u="none" strike="noStrike" cap="none" dirty="0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 (Ensemble)</a:t>
            </a:r>
            <a:endParaRPr dirty="0"/>
          </a:p>
        </p:txBody>
      </p:sp>
      <p:sp>
        <p:nvSpPr>
          <p:cNvPr id="231" name="Google Shape;231;p22"/>
          <p:cNvSpPr txBox="1"/>
          <p:nvPr/>
        </p:nvSpPr>
        <p:spPr>
          <a:xfrm>
            <a:off x="962025" y="3556700"/>
            <a:ext cx="4505400" cy="1329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B</a:t>
            </a:r>
            <a:r>
              <a:rPr lang="it-IT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asato su un grande numero di alberi decisionali. Implementato utilizzando </a:t>
            </a:r>
            <a:r>
              <a:rPr lang="it-IT" sz="1350" b="1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RUSBoost</a:t>
            </a:r>
            <a:r>
              <a:rPr lang="it-IT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con 100 cicli di apprendimento per gestire </a:t>
            </a:r>
            <a:r>
              <a:rPr lang="it-IT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lo sbilanciamento </a:t>
            </a:r>
            <a:r>
              <a:rPr lang="it-IT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tra le etichette di riposo e stress.</a:t>
            </a:r>
            <a:endParaRPr lang="it-IT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232" name="Google Shape;232;p22"/>
          <p:cNvSpPr txBox="1"/>
          <p:nvPr/>
        </p:nvSpPr>
        <p:spPr>
          <a:xfrm>
            <a:off x="6724650" y="3013769"/>
            <a:ext cx="4730591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Support Vector Machine (SVM)</a:t>
            </a:r>
            <a:endParaRPr dirty="0"/>
          </a:p>
        </p:txBody>
      </p:sp>
      <p:sp>
        <p:nvSpPr>
          <p:cNvPr id="233" name="Google Shape;233;p22"/>
          <p:cNvSpPr txBox="1"/>
          <p:nvPr/>
        </p:nvSpPr>
        <p:spPr>
          <a:xfrm>
            <a:off x="6724650" y="3556700"/>
            <a:ext cx="4505400" cy="9971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Implementazione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con Kernel RBF (Radial Basis Function) e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BoxConstraint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pari a 10. Un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tipo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di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trasformazione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molto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efficace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per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i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segnali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fisiologici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234" name="Google Shape;234;p22"/>
          <p:cNvSpPr txBox="1"/>
          <p:nvPr/>
        </p:nvSpPr>
        <p:spPr>
          <a:xfrm>
            <a:off x="571500" y="571500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Modelli di Classificazione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9" name="Google Shape;239;p2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40" name="Google Shape;240;p23"/>
          <p:cNvSpPr txBox="1"/>
          <p:nvPr/>
        </p:nvSpPr>
        <p:spPr>
          <a:xfrm>
            <a:off x="571500" y="2459384"/>
            <a:ext cx="5286375" cy="133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0" b="1" i="0" u="none" strike="noStrike" cap="none">
                <a:solidFill>
                  <a:srgbClr val="38BDF8"/>
                </a:solidFill>
                <a:latin typeface="Poppins"/>
                <a:ea typeface="Poppins"/>
                <a:cs typeface="Poppins"/>
                <a:sym typeface="Poppins"/>
              </a:rPr>
              <a:t>78.8%</a:t>
            </a:r>
            <a:endParaRPr/>
          </a:p>
        </p:txBody>
      </p:sp>
      <p:sp>
        <p:nvSpPr>
          <p:cNvPr id="241" name="Google Shape;241;p23"/>
          <p:cNvSpPr txBox="1"/>
          <p:nvPr/>
        </p:nvSpPr>
        <p:spPr>
          <a:xfrm>
            <a:off x="571500" y="3888134"/>
            <a:ext cx="5286375" cy="4431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chemeClr val="bg1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ACCURATEZZA GLOBALE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242" name="Google Shape;242;p23"/>
          <p:cNvSpPr txBox="1"/>
          <p:nvPr/>
        </p:nvSpPr>
        <p:spPr>
          <a:xfrm>
            <a:off x="6334125" y="2459384"/>
            <a:ext cx="5550693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Performance dell'Ensemble</a:t>
            </a:r>
            <a:endParaRPr/>
          </a:p>
        </p:txBody>
      </p:sp>
      <p:sp>
        <p:nvSpPr>
          <p:cNvPr id="243" name="Google Shape;243;p23"/>
          <p:cNvSpPr txBox="1"/>
          <p:nvPr/>
        </p:nvSpPr>
        <p:spPr>
          <a:xfrm>
            <a:off x="6334125" y="3002309"/>
            <a:ext cx="5286300" cy="664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Tramite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RUSBoost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, il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risultato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di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accuratezza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globale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ha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già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raggiunto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e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superato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quello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del paper (baseline)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244" name="Google Shape;244;p23"/>
          <p:cNvSpPr txBox="1"/>
          <p:nvPr/>
        </p:nvSpPr>
        <p:spPr>
          <a:xfrm>
            <a:off x="6334050" y="3792884"/>
            <a:ext cx="5286375" cy="7478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 dirty="0" err="1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Precisione</a:t>
            </a:r>
            <a:r>
              <a:rPr lang="en-US" sz="1350" b="1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(Stress):</a:t>
            </a:r>
            <a:r>
              <a:rPr lang="en-US" sz="1350" b="0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84.8%</a:t>
            </a: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50" b="1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Recall (</a:t>
            </a:r>
            <a:r>
              <a:rPr lang="en-US" sz="1350" b="1" i="0" u="none" strike="noStrike" cap="none" dirty="0" err="1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Sensibilità</a:t>
            </a:r>
            <a:r>
              <a:rPr lang="en-US" sz="1350" b="1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):</a:t>
            </a:r>
            <a:r>
              <a:rPr lang="en-US" sz="1350" b="0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81.9%</a:t>
            </a: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50" b="1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F1-Score:</a:t>
            </a:r>
            <a:r>
              <a:rPr lang="en-US" sz="1350" b="0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83.3%</a:t>
            </a:r>
            <a:endParaRPr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245" name="Google Shape;245;p23"/>
          <p:cNvSpPr txBox="1"/>
          <p:nvPr/>
        </p:nvSpPr>
        <p:spPr>
          <a:xfrm>
            <a:off x="6334125" y="4659510"/>
            <a:ext cx="5286300" cy="664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i="1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Dalla </a:t>
            </a:r>
            <a:r>
              <a:rPr lang="en-US" sz="1350" i="1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matrice</a:t>
            </a:r>
            <a:r>
              <a:rPr lang="en-US" sz="1350" i="1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di </a:t>
            </a:r>
            <a:r>
              <a:rPr lang="en-US" sz="1350" i="1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confusione</a:t>
            </a:r>
            <a:r>
              <a:rPr lang="en-US" sz="1350" i="1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, </a:t>
            </a:r>
            <a:r>
              <a:rPr lang="en-US" sz="1350" i="1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si</a:t>
            </a:r>
            <a:r>
              <a:rPr lang="en-US" sz="1350" i="1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nota </a:t>
            </a:r>
            <a:r>
              <a:rPr lang="en-US" sz="1350" i="1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un’ottima</a:t>
            </a:r>
            <a:r>
              <a:rPr lang="en-US" sz="1350" i="1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1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reattività</a:t>
            </a:r>
            <a:r>
              <a:rPr lang="en-US" sz="1350" b="0" i="1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1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sulla</a:t>
            </a:r>
            <a:r>
              <a:rPr lang="en-US" sz="1350" b="0" i="1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1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classe</a:t>
            </a:r>
            <a:r>
              <a:rPr lang="en-US" sz="1350" b="0" i="1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1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positiva</a:t>
            </a:r>
            <a:r>
              <a:rPr lang="en-US" sz="1350" b="0" i="1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(1127 Veri </a:t>
            </a:r>
            <a:r>
              <a:rPr lang="en-US" sz="1350" b="0" i="1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Positivi</a:t>
            </a:r>
            <a:r>
              <a:rPr lang="en-US" sz="1350" b="0" i="1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).</a:t>
            </a:r>
            <a:endParaRPr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246" name="Google Shape;246;p23"/>
          <p:cNvSpPr txBox="1"/>
          <p:nvPr/>
        </p:nvSpPr>
        <p:spPr>
          <a:xfrm>
            <a:off x="571500" y="571500"/>
            <a:ext cx="11601450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 dirty="0" err="1">
                <a:solidFill>
                  <a:schemeClr val="bg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Risultati</a:t>
            </a:r>
            <a:r>
              <a:rPr lang="en-US" sz="3000" b="0" i="0" u="none" strike="noStrike" cap="none" dirty="0">
                <a:solidFill>
                  <a:schemeClr val="bg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:</a:t>
            </a:r>
            <a:r>
              <a:rPr lang="en-US" sz="3000" dirty="0">
                <a:solidFill>
                  <a:schemeClr val="bg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 </a:t>
            </a:r>
            <a:r>
              <a:rPr lang="en-US" sz="3000" dirty="0" err="1">
                <a:solidFill>
                  <a:schemeClr val="bg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RUSBoost</a:t>
            </a:r>
            <a:endParaRPr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1" name="Google Shape;251;p2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2" name="Google Shape;252;p24"/>
          <p:cNvSpPr txBox="1"/>
          <p:nvPr/>
        </p:nvSpPr>
        <p:spPr>
          <a:xfrm>
            <a:off x="571500" y="2668041"/>
            <a:ext cx="5286375" cy="133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0" b="1" i="0" u="none" strike="noStrike" cap="none" dirty="0">
                <a:solidFill>
                  <a:srgbClr val="38BDF8"/>
                </a:solidFill>
                <a:latin typeface="Poppins"/>
                <a:ea typeface="Poppins"/>
                <a:cs typeface="Poppins"/>
                <a:sym typeface="Poppins"/>
              </a:rPr>
              <a:t>80.1%</a:t>
            </a:r>
            <a:endParaRPr dirty="0"/>
          </a:p>
        </p:txBody>
      </p:sp>
      <p:sp>
        <p:nvSpPr>
          <p:cNvPr id="253" name="Google Shape;253;p24"/>
          <p:cNvSpPr txBox="1"/>
          <p:nvPr/>
        </p:nvSpPr>
        <p:spPr>
          <a:xfrm>
            <a:off x="571500" y="4096791"/>
            <a:ext cx="5286375" cy="4431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chemeClr val="bg1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ACCURATEZZA GLOBALE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254" name="Google Shape;254;p24"/>
          <p:cNvSpPr txBox="1"/>
          <p:nvPr/>
        </p:nvSpPr>
        <p:spPr>
          <a:xfrm>
            <a:off x="6334125" y="2668041"/>
            <a:ext cx="5550693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Il </a:t>
            </a:r>
            <a:r>
              <a:rPr lang="en-US" sz="2100" dirty="0" err="1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M</a:t>
            </a:r>
            <a:r>
              <a:rPr lang="en-US" sz="2100" b="0" i="0" u="none" strike="noStrike" cap="none" dirty="0" err="1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odello</a:t>
            </a:r>
            <a:r>
              <a:rPr lang="en-US" sz="2100" b="0" i="0" u="none" strike="noStrike" cap="none" dirty="0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 Migliore (in </a:t>
            </a:r>
            <a:r>
              <a:rPr lang="en-US" sz="2100" b="0" i="0" u="none" strike="noStrike" cap="none" dirty="0" err="1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questo</a:t>
            </a:r>
            <a:r>
              <a:rPr lang="en-US" sz="2100" b="0" i="0" u="none" strike="noStrike" cap="none" dirty="0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 </a:t>
            </a:r>
            <a:r>
              <a:rPr lang="en-US" sz="2100" b="0" i="0" u="none" strike="noStrike" cap="none" dirty="0" err="1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contesto</a:t>
            </a:r>
            <a:r>
              <a:rPr lang="en-US" sz="2100" b="0" i="0" u="none" strike="noStrike" cap="none" dirty="0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)</a:t>
            </a:r>
            <a:endParaRPr dirty="0"/>
          </a:p>
        </p:txBody>
      </p:sp>
      <p:sp>
        <p:nvSpPr>
          <p:cNvPr id="255" name="Google Shape;255;p24"/>
          <p:cNvSpPr txBox="1"/>
          <p:nvPr/>
        </p:nvSpPr>
        <p:spPr>
          <a:xfrm>
            <a:off x="6334125" y="3210966"/>
            <a:ext cx="5286300" cy="16619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L'algoritmo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SVM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mappato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in 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Kernel RBF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,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riconosce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meglio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i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pattern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più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complessi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rispetto a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RUSBoost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(ha un Recall dell’86,6% rispetto a 81.9%),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tuttavia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ha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una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precisione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minore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sullo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Stress (83,4%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contro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84,8%)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Infine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,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l’accuratezza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globale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è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mediamente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più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alta.</a:t>
            </a:r>
            <a:endParaRPr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256" name="Google Shape;256;p24"/>
          <p:cNvSpPr txBox="1"/>
          <p:nvPr/>
        </p:nvSpPr>
        <p:spPr>
          <a:xfrm>
            <a:off x="6334113" y="4950637"/>
            <a:ext cx="5286300" cy="7478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 dirty="0" err="1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Precisione</a:t>
            </a:r>
            <a:r>
              <a:rPr lang="en-US" sz="1350" b="1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(Stress):</a:t>
            </a:r>
            <a:r>
              <a:rPr lang="en-US" sz="1350" b="0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83.4%</a:t>
            </a: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50" b="1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Recall (</a:t>
            </a:r>
            <a:r>
              <a:rPr lang="en-US" sz="1350" b="1" i="0" u="none" strike="noStrike" cap="none" dirty="0" err="1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Sensibilità</a:t>
            </a:r>
            <a:r>
              <a:rPr lang="en-US" sz="1350" b="1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):</a:t>
            </a:r>
            <a:r>
              <a:rPr lang="en-US" sz="1350" b="0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86.6%</a:t>
            </a: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50" b="1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F1-Score:</a:t>
            </a:r>
            <a:r>
              <a:rPr lang="en-US" sz="1350" b="0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85.0%</a:t>
            </a:r>
            <a:endParaRPr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257" name="Google Shape;257;p24"/>
          <p:cNvSpPr txBox="1"/>
          <p:nvPr/>
        </p:nvSpPr>
        <p:spPr>
          <a:xfrm>
            <a:off x="571500" y="571500"/>
            <a:ext cx="11601450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 dirty="0" err="1">
                <a:solidFill>
                  <a:schemeClr val="bg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Risultati</a:t>
            </a:r>
            <a:r>
              <a:rPr lang="en-US" sz="3000" b="0" i="0" u="none" strike="noStrike" cap="none" dirty="0">
                <a:solidFill>
                  <a:schemeClr val="bg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: SVM (RBF Kernel)</a:t>
            </a:r>
            <a:endParaRPr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2" name="Google Shape;262;p2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63" name="Google Shape;263;p25"/>
          <p:cNvSpPr txBox="1"/>
          <p:nvPr/>
        </p:nvSpPr>
        <p:spPr>
          <a:xfrm>
            <a:off x="571500" y="5346972"/>
            <a:ext cx="11049000" cy="664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Come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dimostrato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, le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migliorie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apportate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nelle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fasi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di preprocessing e 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di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estrazione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delle feature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hanno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permesso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un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incremento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su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tutti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i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modelli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valutati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rispetto al paper di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riferimento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264" name="Google Shape;264;p25"/>
          <p:cNvSpPr txBox="1"/>
          <p:nvPr/>
        </p:nvSpPr>
        <p:spPr>
          <a:xfrm>
            <a:off x="571500" y="571500"/>
            <a:ext cx="11601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 dirty="0" err="1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Confronto</a:t>
            </a:r>
            <a:r>
              <a:rPr lang="en-US" sz="3000" b="0" i="0" u="none" strike="noStrike" cap="none" dirty="0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 </a:t>
            </a:r>
            <a:r>
              <a:rPr lang="en-US" sz="3000" b="0" i="0" u="none" strike="noStrike" cap="none" dirty="0" err="1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dei</a:t>
            </a:r>
            <a:r>
              <a:rPr lang="en-US" sz="3000" b="0" i="0" u="none" strike="noStrike" cap="none" dirty="0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 </a:t>
            </a:r>
            <a:r>
              <a:rPr lang="en-US" sz="3000" b="0" i="0" u="none" strike="noStrike" cap="none" dirty="0" err="1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Modelli</a:t>
            </a:r>
            <a:endParaRPr dirty="0"/>
          </a:p>
        </p:txBody>
      </p:sp>
      <p:pic>
        <p:nvPicPr>
          <p:cNvPr id="265" name="Google Shape;265;p25" title="graph.png"/>
          <p:cNvPicPr preferRelativeResize="0"/>
          <p:nvPr/>
        </p:nvPicPr>
        <p:blipFill rotWithShape="1">
          <a:blip r:embed="rId4">
            <a:alphaModFix/>
          </a:blip>
          <a:srcRect t="1886" b="1886"/>
          <a:stretch/>
        </p:blipFill>
        <p:spPr>
          <a:xfrm>
            <a:off x="2559200" y="1317575"/>
            <a:ext cx="7659425" cy="374502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0" name="Google Shape;270;p2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71" name="Google Shape;271;p26"/>
          <p:cNvSpPr txBox="1"/>
          <p:nvPr/>
        </p:nvSpPr>
        <p:spPr>
          <a:xfrm>
            <a:off x="1971600" y="1714500"/>
            <a:ext cx="8248800" cy="33932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3996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dirty="0" err="1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Tramite</a:t>
            </a:r>
            <a:r>
              <a:rPr lang="en-US" sz="3150" dirty="0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 </a:t>
            </a:r>
            <a:r>
              <a:rPr lang="en-US" sz="3150" dirty="0" err="1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l’integrazione</a:t>
            </a:r>
            <a:r>
              <a:rPr lang="en-US" sz="3150" dirty="0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 di </a:t>
            </a:r>
            <a:r>
              <a:rPr lang="en-US" sz="3150" dirty="0" err="1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più</a:t>
            </a:r>
            <a:r>
              <a:rPr lang="en-US" sz="3150" dirty="0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 </a:t>
            </a:r>
            <a:r>
              <a:rPr lang="en-US" sz="3150" dirty="0" err="1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segnali</a:t>
            </a:r>
            <a:r>
              <a:rPr lang="en-US" sz="3150" dirty="0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 come </a:t>
            </a:r>
            <a:r>
              <a:rPr lang="en-US" sz="3150" dirty="0" err="1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temperatura</a:t>
            </a:r>
            <a:r>
              <a:rPr lang="en-US" sz="3150" dirty="0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 e </a:t>
            </a:r>
            <a:r>
              <a:rPr lang="en-US" sz="3150" dirty="0" err="1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movimento</a:t>
            </a:r>
            <a:r>
              <a:rPr lang="en-US" sz="3150" dirty="0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 è </a:t>
            </a:r>
            <a:r>
              <a:rPr lang="en-US" sz="3150" dirty="0" err="1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stato</a:t>
            </a:r>
            <a:r>
              <a:rPr lang="en-US" sz="3150" dirty="0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 </a:t>
            </a:r>
            <a:r>
              <a:rPr lang="en-US" sz="3150" dirty="0" err="1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possibile</a:t>
            </a:r>
            <a:r>
              <a:rPr lang="en-US" sz="3150" dirty="0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 </a:t>
            </a:r>
            <a:r>
              <a:rPr lang="en-US" sz="3150" dirty="0" err="1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raggiungere</a:t>
            </a:r>
            <a:r>
              <a:rPr lang="en-US" sz="3150" dirty="0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 un </a:t>
            </a:r>
            <a:r>
              <a:rPr lang="en-US" sz="3150" dirty="0" err="1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risultato</a:t>
            </a:r>
            <a:r>
              <a:rPr lang="en-US" sz="3150" dirty="0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 </a:t>
            </a:r>
            <a:r>
              <a:rPr lang="en-US" sz="3150" dirty="0" err="1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migliore</a:t>
            </a:r>
            <a:r>
              <a:rPr lang="en-US" sz="3150" dirty="0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 del paper di </a:t>
            </a:r>
            <a:r>
              <a:rPr lang="en-US" sz="3150" dirty="0" err="1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riferimento</a:t>
            </a:r>
            <a:r>
              <a:rPr lang="en-US" sz="3150" dirty="0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 del 3,6%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272" name="Google Shape;272;p26"/>
          <p:cNvSpPr txBox="1"/>
          <p:nvPr/>
        </p:nvSpPr>
        <p:spPr>
          <a:xfrm>
            <a:off x="6278550" y="5218208"/>
            <a:ext cx="51246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rgbClr val="00B0F0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— </a:t>
            </a:r>
            <a:r>
              <a:rPr lang="en-US" sz="1800" dirty="0">
                <a:solidFill>
                  <a:srgbClr val="00B0F0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G.C. </a:t>
            </a:r>
            <a:r>
              <a:rPr lang="en-US" sz="1800" b="0" i="0" u="none" strike="noStrike" cap="none" dirty="0" err="1">
                <a:solidFill>
                  <a:srgbClr val="00B0F0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Interfacce</a:t>
            </a:r>
            <a:r>
              <a:rPr lang="en-US" sz="1800" b="0" i="0" u="none" strike="noStrike" cap="none" dirty="0">
                <a:solidFill>
                  <a:srgbClr val="00B0F0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Uomo-</a:t>
            </a:r>
            <a:r>
              <a:rPr lang="en-US" sz="1800" b="0" i="0" u="none" strike="noStrike" cap="none" dirty="0" err="1">
                <a:solidFill>
                  <a:srgbClr val="00B0F0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Macchina</a:t>
            </a:r>
            <a:endParaRPr dirty="0">
              <a:solidFill>
                <a:srgbClr val="00B0F0"/>
              </a:solidFill>
            </a:endParaRPr>
          </a:p>
        </p:txBody>
      </p:sp>
      <p:sp>
        <p:nvSpPr>
          <p:cNvPr id="273" name="Google Shape;273;p26"/>
          <p:cNvSpPr txBox="1"/>
          <p:nvPr/>
        </p:nvSpPr>
        <p:spPr>
          <a:xfrm>
            <a:off x="1304925" y="2277516"/>
            <a:ext cx="371475" cy="17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0" b="0" i="0" u="none" strike="noStrike" cap="none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"</a:t>
            </a:r>
            <a:endParaRPr/>
          </a:p>
        </p:txBody>
      </p:sp>
      <p:sp>
        <p:nvSpPr>
          <p:cNvPr id="274" name="Google Shape;274;p26"/>
          <p:cNvSpPr txBox="1"/>
          <p:nvPr/>
        </p:nvSpPr>
        <p:spPr>
          <a:xfrm>
            <a:off x="10515600" y="5447255"/>
            <a:ext cx="371475" cy="1410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0" b="0" i="0" u="none" strike="noStrike" cap="none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"</a:t>
            </a:r>
            <a:endParaRPr/>
          </a:p>
        </p:txBody>
      </p:sp>
      <p:sp>
        <p:nvSpPr>
          <p:cNvPr id="275" name="Google Shape;275;p26"/>
          <p:cNvSpPr txBox="1"/>
          <p:nvPr/>
        </p:nvSpPr>
        <p:spPr>
          <a:xfrm>
            <a:off x="571500" y="571500"/>
            <a:ext cx="11601450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 dirty="0" err="1">
                <a:solidFill>
                  <a:schemeClr val="bg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Conclusioni</a:t>
            </a:r>
            <a:r>
              <a:rPr lang="en-US" sz="3000" b="0" i="0" u="none" strike="noStrike" cap="none" dirty="0">
                <a:solidFill>
                  <a:schemeClr val="bg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 e </a:t>
            </a:r>
            <a:r>
              <a:rPr lang="en-US" sz="3000" b="0" i="0" u="none" strike="noStrike" cap="none" dirty="0" err="1">
                <a:solidFill>
                  <a:schemeClr val="bg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Sviluppi</a:t>
            </a:r>
            <a:endParaRPr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0" name="Google Shape;280;p2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81" name="Google Shape;281;p27"/>
          <p:cNvSpPr txBox="1"/>
          <p:nvPr/>
        </p:nvSpPr>
        <p:spPr>
          <a:xfrm>
            <a:off x="571500" y="571500"/>
            <a:ext cx="11601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Altri esperimenti (scartati)</a:t>
            </a:r>
            <a:endParaRPr/>
          </a:p>
        </p:txBody>
      </p:sp>
      <p:sp>
        <p:nvSpPr>
          <p:cNvPr id="282" name="Google Shape;282;p27"/>
          <p:cNvSpPr txBox="1"/>
          <p:nvPr/>
        </p:nvSpPr>
        <p:spPr>
          <a:xfrm>
            <a:off x="571500" y="1350200"/>
            <a:ext cx="6130200" cy="23267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dirty="0" err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Utilizzo</a:t>
            </a:r>
            <a:r>
              <a:rPr lang="en-US" sz="1350" b="1" dirty="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 di HR e IBI</a:t>
            </a:r>
            <a:endParaRPr sz="1350" b="1" dirty="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Sono state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sperimentate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delle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implementazioni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con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l’ausilio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dei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valori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misurati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HR (senza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derivarli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come da paper) e IBI,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tuttavia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i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risultati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finali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erano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nettamente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inferiori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rispetto a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quelli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mostrati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in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precedenza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e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l’accuratezza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del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modello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minore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sz="1350" dirty="0">
              <a:solidFill>
                <a:srgbClr val="CBD5E1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(Circa il 64% di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accuratezza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).</a:t>
            </a:r>
          </a:p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Sono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quindi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stati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scartati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sz="1350" dirty="0">
              <a:solidFill>
                <a:srgbClr val="CBD5E1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30</TotalTime>
  <Words>1015</Words>
  <Application>Microsoft Office PowerPoint</Application>
  <PresentationFormat>Widescreen</PresentationFormat>
  <Paragraphs>96</Paragraphs>
  <Slides>15</Slides>
  <Notes>15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7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15</vt:i4>
      </vt:variant>
    </vt:vector>
  </HeadingPairs>
  <TitlesOfParts>
    <vt:vector size="23" baseType="lpstr">
      <vt:lpstr>Poppins SemiBold</vt:lpstr>
      <vt:lpstr>Poppins</vt:lpstr>
      <vt:lpstr>Inter</vt:lpstr>
      <vt:lpstr>Arial</vt:lpstr>
      <vt:lpstr>Inter SemiBold</vt:lpstr>
      <vt:lpstr>Calibri</vt:lpstr>
      <vt:lpstr>Poppins Medium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CARETTI GABRIELE</cp:lastModifiedBy>
  <cp:revision>12</cp:revision>
  <dcterms:modified xsi:type="dcterms:W3CDTF">2026-05-09T21:17:08Z</dcterms:modified>
</cp:coreProperties>
</file>