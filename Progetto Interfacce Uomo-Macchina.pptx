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70" r:id="rId10"/>
    <p:sldId id="271" r:id="rId11"/>
    <p:sldId id="272" r:id="rId12"/>
    <p:sldId id="266" r:id="rId13"/>
    <p:sldId id="269" r:id="rId14"/>
  </p:sldIdLst>
  <p:sldSz cx="12192000" cy="6858000"/>
  <p:notesSz cx="6858000" cy="9144000"/>
  <p:embeddedFontLst>
    <p:embeddedFont>
      <p:font typeface="Inter" panose="020B0604020202020204" charset="0"/>
      <p:regular r:id="rId16"/>
      <p:bold r:id="rId17"/>
      <p:italic r:id="rId18"/>
      <p:boldItalic r:id="rId19"/>
    </p:embeddedFont>
    <p:embeddedFont>
      <p:font typeface="Inter SemiBold" panose="020B0604020202020204" charset="0"/>
      <p:regular r:id="rId20"/>
      <p:bold r:id="rId21"/>
      <p:italic r:id="rId22"/>
      <p:boldItalic r:id="rId23"/>
    </p:embeddedFont>
    <p:embeddedFont>
      <p:font typeface="Poppins" panose="00000500000000000000" pitchFamily="2" charset="0"/>
      <p:regular r:id="rId24"/>
      <p:bold r:id="rId25"/>
      <p:italic r:id="rId26"/>
      <p:boldItalic r:id="rId27"/>
    </p:embeddedFont>
    <p:embeddedFont>
      <p:font typeface="Poppins Medium" panose="00000600000000000000" pitchFamily="2" charset="0"/>
      <p:regular r:id="rId28"/>
      <p:bold r:id="rId29"/>
      <p:italic r:id="rId30"/>
      <p:boldItalic r:id="rId31"/>
    </p:embeddedFont>
    <p:embeddedFont>
      <p:font typeface="Poppins SemiBold" panose="00000700000000000000" pitchFamily="2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EB9E"/>
    <a:srgbClr val="38BDF8"/>
    <a:srgbClr val="32DA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A420689-7505-438F-932B-000085F4ABB9}">
  <a:tblStyle styleId="{DA420689-7505-438F-932B-000085F4ABB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B4B98B0-60AC-42C2-AFA5-B58CD77FA1E5}" styleName="Stile chiaro 1 - Color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Stile chiaro 2 - Colore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202B0CA-FC54-4496-8BCA-5EF66A818D29}" styleName="Stile scuro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25E5076-3810-47DD-B79F-674D7AD40C01}" styleName="Stile scuro 1 - Color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2650" y="105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9" Type="http://schemas.openxmlformats.org/officeDocument/2006/relationships/tableStyles" Target="tableStyles.xml"/><Relationship Id="rId21" Type="http://schemas.openxmlformats.org/officeDocument/2006/relationships/font" Target="fonts/font6.fntdata"/><Relationship Id="rId34" Type="http://schemas.openxmlformats.org/officeDocument/2006/relationships/font" Target="fonts/font19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font" Target="fonts/font18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font" Target="fonts/font17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font" Target="fonts/font1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font" Target="fonts/font20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>
          <a:extLst>
            <a:ext uri="{FF2B5EF4-FFF2-40B4-BE49-F238E27FC236}">
              <a16:creationId xmlns:a16="http://schemas.microsoft.com/office/drawing/2014/main" id="{C66B4C5F-542B-EDEA-557A-9A5CA1045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1:notes">
            <a:extLst>
              <a:ext uri="{FF2B5EF4-FFF2-40B4-BE49-F238E27FC236}">
                <a16:creationId xmlns:a16="http://schemas.microsoft.com/office/drawing/2014/main" id="{CB983873-06BF-DFD3-4480-C11642AFF1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1:notes">
            <a:extLst>
              <a:ext uri="{FF2B5EF4-FFF2-40B4-BE49-F238E27FC236}">
                <a16:creationId xmlns:a16="http://schemas.microsoft.com/office/drawing/2014/main" id="{D955A440-C8A6-5E74-59B3-45B847AB06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946898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>
          <a:extLst>
            <a:ext uri="{FF2B5EF4-FFF2-40B4-BE49-F238E27FC236}">
              <a16:creationId xmlns:a16="http://schemas.microsoft.com/office/drawing/2014/main" id="{5797EEAE-C704-1567-06EC-14860AC4E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1:notes">
            <a:extLst>
              <a:ext uri="{FF2B5EF4-FFF2-40B4-BE49-F238E27FC236}">
                <a16:creationId xmlns:a16="http://schemas.microsoft.com/office/drawing/2014/main" id="{D818527A-00BB-2239-79E6-9A5E081F94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1:notes">
            <a:extLst>
              <a:ext uri="{FF2B5EF4-FFF2-40B4-BE49-F238E27FC236}">
                <a16:creationId xmlns:a16="http://schemas.microsoft.com/office/drawing/2014/main" id="{0D7A1178-8FA4-1FC1-B0AD-77DA497C51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876228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>
          <a:extLst>
            <a:ext uri="{FF2B5EF4-FFF2-40B4-BE49-F238E27FC236}">
              <a16:creationId xmlns:a16="http://schemas.microsoft.com/office/drawing/2014/main" id="{FC2C6982-D461-6595-D0D3-FBB3DD035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1:notes">
            <a:extLst>
              <a:ext uri="{FF2B5EF4-FFF2-40B4-BE49-F238E27FC236}">
                <a16:creationId xmlns:a16="http://schemas.microsoft.com/office/drawing/2014/main" id="{F79BB721-46C0-BA2B-F3CA-1DEC1C3D7A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1:notes">
            <a:extLst>
              <a:ext uri="{FF2B5EF4-FFF2-40B4-BE49-F238E27FC236}">
                <a16:creationId xmlns:a16="http://schemas.microsoft.com/office/drawing/2014/main" id="{6947C15C-7BF0-644E-69E0-6D194FF6F5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823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110501" y="2591841"/>
            <a:ext cx="7970996" cy="812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Rilevamento</a:t>
            </a:r>
            <a:r>
              <a:rPr lang="en-US" sz="48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4800" b="0" i="0" u="none" strike="noStrike" cap="none" dirty="0">
                <a:solidFill>
                  <a:srgbClr val="38BDF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Stress-Rest</a:t>
            </a:r>
            <a:endParaRPr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2300287" y="3452812"/>
            <a:ext cx="7591500" cy="1119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Machine Learning con Dati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Empatica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E4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Progetto di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Interfacce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Uomo-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Macchina</a:t>
            </a:r>
            <a:endParaRPr sz="1650" b="0" i="0" u="none" strike="noStrike" cap="none" dirty="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ctr" rtl="0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Gabriele Caretti Mat. 756564</a:t>
            </a:r>
            <a:endParaRPr sz="1650" dirty="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571500" y="571500"/>
            <a:ext cx="5550693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Obiettivi del Progetto</a:t>
            </a:r>
            <a:endParaRPr/>
          </a:p>
        </p:txBody>
      </p:sp>
      <p:pic>
        <p:nvPicPr>
          <p:cNvPr id="93" name="Google Shape;93;p14"/>
          <p:cNvPicPr preferRelativeResize="0"/>
          <p:nvPr/>
        </p:nvPicPr>
        <p:blipFill rotWithShape="1">
          <a:blip r:embed="rId4">
            <a:alphaModFix/>
          </a:blip>
          <a:srcRect l="8528" r="8519"/>
          <a:stretch/>
        </p:blipFill>
        <p:spPr>
          <a:xfrm>
            <a:off x="7781250" y="1205925"/>
            <a:ext cx="2928937" cy="393576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571500" y="2051637"/>
            <a:ext cx="52863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Sviluppare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pipeline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elaborazione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distinguere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psicofisiologici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(Stress v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Riposo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/Rest).</a:t>
            </a:r>
            <a:endParaRPr dirty="0"/>
          </a:p>
        </p:txBody>
      </p:sp>
      <p:sp>
        <p:nvSpPr>
          <p:cNvPr id="95" name="Google Shape;95;p14"/>
          <p:cNvSpPr txBox="1"/>
          <p:nvPr/>
        </p:nvSpPr>
        <p:spPr>
          <a:xfrm>
            <a:off x="571425" y="2805341"/>
            <a:ext cx="5286375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La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classificazione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basa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biometrici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acquisiti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 tempo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reale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sensori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indossabili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multisensoriali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nello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specific con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Empatica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E4.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571500" y="3891445"/>
            <a:ext cx="52863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Vengono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impiegati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Machine Learning 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addestrare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un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il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accurato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possible (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Principalmente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RF, SVM e Logistic Regression)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77515"/>
            <a:ext cx="5286375" cy="34902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277516"/>
            <a:ext cx="5286375" cy="34902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 txBox="1"/>
          <p:nvPr/>
        </p:nvSpPr>
        <p:spPr>
          <a:xfrm>
            <a:off x="962025" y="2668041"/>
            <a:ext cx="47307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Riferimento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2100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(Baseline)</a:t>
            </a:r>
            <a:endParaRPr dirty="0"/>
          </a:p>
        </p:txBody>
      </p:sp>
      <p:sp>
        <p:nvSpPr>
          <p:cNvPr id="105" name="Google Shape;105;p15"/>
          <p:cNvSpPr txBox="1"/>
          <p:nvPr/>
        </p:nvSpPr>
        <p:spPr>
          <a:xfrm>
            <a:off x="962025" y="3210966"/>
            <a:ext cx="4505400" cy="1994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Il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è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asato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sul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paper </a:t>
            </a:r>
            <a:r>
              <a:rPr lang="en-US" sz="1350" b="0" i="1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"A Method for Stress Detection Using </a:t>
            </a:r>
            <a:r>
              <a:rPr lang="en-US" sz="1350" b="0" i="1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Empatica</a:t>
            </a:r>
            <a:r>
              <a:rPr lang="en-US" sz="1350" b="0" i="1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E4"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(Campanella et al., 2023). 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Nel paper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viene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proposto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l’utilizzo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pipeline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utilizzando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solamente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due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segnali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(EDA e BVP). La loro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massima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dichiarata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è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stata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</a:t>
            </a:r>
            <a:r>
              <a:rPr lang="en-US" sz="1350" b="1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76,5%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Utilizzando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Random Forest).</a:t>
            </a:r>
            <a:endParaRPr dirty="0"/>
          </a:p>
        </p:txBody>
      </p:sp>
      <p:sp>
        <p:nvSpPr>
          <p:cNvPr id="107" name="Google Shape;107;p15"/>
          <p:cNvSpPr txBox="1"/>
          <p:nvPr/>
        </p:nvSpPr>
        <p:spPr>
          <a:xfrm>
            <a:off x="6724650" y="2668041"/>
            <a:ext cx="4730591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Limiti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endParaRPr dirty="0"/>
          </a:p>
        </p:txBody>
      </p:sp>
      <p:sp>
        <p:nvSpPr>
          <p:cNvPr id="108" name="Google Shape;108;p15"/>
          <p:cNvSpPr txBox="1"/>
          <p:nvPr/>
        </p:nvSpPr>
        <p:spPr>
          <a:xfrm>
            <a:off x="6724650" y="3210966"/>
            <a:ext cx="4505400" cy="1994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Il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paper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soffre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sbilanciamento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dataset (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campioni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stress rispetto 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quelli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riposo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Questo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può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essere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migliorato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(per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esempio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) con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utilizzo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di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RusBoost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che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si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comporta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meglio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con dataset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sbilanciati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, 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soglie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PPI diverse.</a:t>
            </a:r>
            <a:endParaRPr dirty="0"/>
          </a:p>
        </p:txBody>
      </p:sp>
      <p:sp>
        <p:nvSpPr>
          <p:cNvPr id="110" name="Google Shape;110;p15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Analisi del </a:t>
            </a:r>
            <a:r>
              <a:rPr lang="en-US" sz="300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Paper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89875"/>
            <a:ext cx="3492550" cy="3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800" y="2289875"/>
            <a:ext cx="3492550" cy="3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100" y="2289876"/>
            <a:ext cx="3492550" cy="3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66775" y="2585144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6"/>
          <p:cNvSpPr txBox="1"/>
          <p:nvPr/>
        </p:nvSpPr>
        <p:spPr>
          <a:xfrm>
            <a:off x="866775" y="3442394"/>
            <a:ext cx="1350168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BVP</a:t>
            </a:r>
            <a:endParaRPr dirty="0"/>
          </a:p>
        </p:txBody>
      </p:sp>
      <p:sp>
        <p:nvSpPr>
          <p:cNvPr id="121" name="Google Shape;121;p16"/>
          <p:cNvSpPr txBox="1"/>
          <p:nvPr/>
        </p:nvSpPr>
        <p:spPr>
          <a:xfrm>
            <a:off x="866775" y="3985319"/>
            <a:ext cx="29019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Monitoraggio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Pulsazione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Volume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Sanguigno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(BVP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), con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frequenza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64 Hz.</a:t>
            </a:r>
            <a:endParaRPr dirty="0"/>
          </a:p>
        </p:txBody>
      </p:sp>
      <p:pic>
        <p:nvPicPr>
          <p:cNvPr id="122" name="Google Shape;122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5074" y="2585144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/>
          <p:nvPr/>
        </p:nvSpPr>
        <p:spPr>
          <a:xfrm>
            <a:off x="4645074" y="3442394"/>
            <a:ext cx="140017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EDA</a:t>
            </a:r>
            <a:endParaRPr dirty="0"/>
          </a:p>
        </p:txBody>
      </p:sp>
      <p:sp>
        <p:nvSpPr>
          <p:cNvPr id="124" name="Google Shape;124;p16"/>
          <p:cNvSpPr txBox="1"/>
          <p:nvPr/>
        </p:nvSpPr>
        <p:spPr>
          <a:xfrm>
            <a:off x="4645074" y="3985319"/>
            <a:ext cx="2901900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Monitoraggio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dell’a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ttività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elettrodermica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(EDA), con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frequenza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4 Hz (poi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ricampionata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 64)</a:t>
            </a:r>
            <a:endParaRPr dirty="0"/>
          </a:p>
        </p:txBody>
      </p:sp>
      <p:pic>
        <p:nvPicPr>
          <p:cNvPr id="125" name="Google Shape;125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3374" y="2585144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6"/>
          <p:cNvSpPr txBox="1"/>
          <p:nvPr/>
        </p:nvSpPr>
        <p:spPr>
          <a:xfrm>
            <a:off x="8423374" y="3442394"/>
            <a:ext cx="171021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TEMP &amp; ACC</a:t>
            </a:r>
            <a:endParaRPr dirty="0"/>
          </a:p>
        </p:txBody>
      </p:sp>
      <p:sp>
        <p:nvSpPr>
          <p:cNvPr id="127" name="Google Shape;127;p16"/>
          <p:cNvSpPr txBox="1"/>
          <p:nvPr/>
        </p:nvSpPr>
        <p:spPr>
          <a:xfrm>
            <a:off x="8423375" y="3985326"/>
            <a:ext cx="2901900" cy="1994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Monitoraggio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temperatura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movimenti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accelerometro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arricchire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le feature.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(Solo in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alcune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versioni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sperimentali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)</a:t>
            </a:r>
            <a:endParaRPr dirty="0"/>
          </a:p>
        </p:txBody>
      </p:sp>
      <p:pic>
        <p:nvPicPr>
          <p:cNvPr id="128" name="Google Shape;128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09650" y="2728019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811762" y="2728019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6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637686" y="2728019"/>
            <a:ext cx="2381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Il Dataset (Empatica E4)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7"/>
          <p:cNvSpPr/>
          <p:nvPr/>
        </p:nvSpPr>
        <p:spPr>
          <a:xfrm>
            <a:off x="571500" y="4124325"/>
            <a:ext cx="11049000" cy="381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 txBox="1"/>
          <p:nvPr/>
        </p:nvSpPr>
        <p:spPr>
          <a:xfrm>
            <a:off x="571500" y="4429125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1° Task</a:t>
            </a:r>
            <a:r>
              <a:rPr lang="en-US" sz="1650" b="0" i="0" u="none" strike="noStrike" cap="none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: Lego libero</a:t>
            </a:r>
            <a:endParaRPr dirty="0"/>
          </a:p>
        </p:txBody>
      </p:sp>
      <p:sp>
        <p:nvSpPr>
          <p:cNvPr id="139" name="Google Shape;139;p17"/>
          <p:cNvSpPr txBox="1"/>
          <p:nvPr/>
        </p:nvSpPr>
        <p:spPr>
          <a:xfrm>
            <a:off x="571500" y="4886325"/>
            <a:ext cx="26517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10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minuti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ssemblaggio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pezzi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Lego 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senza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istruzioni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lieve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stress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cognitivo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dirty="0"/>
          </a:p>
        </p:txBody>
      </p:sp>
      <p:sp>
        <p:nvSpPr>
          <p:cNvPr id="140" name="Google Shape;140;p17"/>
          <p:cNvSpPr txBox="1"/>
          <p:nvPr/>
        </p:nvSpPr>
        <p:spPr>
          <a:xfrm>
            <a:off x="3370510" y="2632950"/>
            <a:ext cx="3356862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2° e 3° Task:</a:t>
            </a:r>
            <a:r>
              <a:rPr lang="en-US" sz="1650" b="0" i="0" u="none" strike="noStrike" cap="none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Lego </a:t>
            </a:r>
            <a:r>
              <a:rPr lang="en-US" sz="1650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con/senza </a:t>
            </a:r>
            <a:r>
              <a:rPr lang="en-US" sz="1650" dirty="0" err="1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istruzioni</a:t>
            </a:r>
            <a:endParaRPr dirty="0"/>
          </a:p>
        </p:txBody>
      </p:sp>
      <p:sp>
        <p:nvSpPr>
          <p:cNvPr id="141" name="Google Shape;141;p17"/>
          <p:cNvSpPr txBox="1"/>
          <p:nvPr/>
        </p:nvSpPr>
        <p:spPr>
          <a:xfrm>
            <a:off x="3370510" y="3227189"/>
            <a:ext cx="26517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5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minuti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ssemblaggio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piccoli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Lego con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istruzioni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, e poi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grandi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senza (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Pressione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temporale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dirty="0"/>
          </a:p>
        </p:txBody>
      </p:sp>
      <p:sp>
        <p:nvSpPr>
          <p:cNvPr id="142" name="Google Shape;142;p17"/>
          <p:cNvSpPr txBox="1"/>
          <p:nvPr/>
        </p:nvSpPr>
        <p:spPr>
          <a:xfrm>
            <a:off x="6169521" y="4429125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4° Task</a:t>
            </a:r>
            <a:r>
              <a:rPr lang="en-US" sz="1650" b="0" i="0" u="none" strike="noStrike" cap="none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: </a:t>
            </a:r>
            <a:r>
              <a:rPr lang="en-US" sz="1650" b="0" i="0" u="none" strike="noStrike" cap="none" dirty="0" err="1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Matematica</a:t>
            </a:r>
            <a:endParaRPr dirty="0"/>
          </a:p>
        </p:txBody>
      </p:sp>
      <p:sp>
        <p:nvSpPr>
          <p:cNvPr id="143" name="Google Shape;143;p17"/>
          <p:cNvSpPr txBox="1"/>
          <p:nvPr/>
        </p:nvSpPr>
        <p:spPr>
          <a:xfrm>
            <a:off x="6169521" y="4886325"/>
            <a:ext cx="26517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Calcoli matematici 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senza limiti di tempo (Stress mentale elevato).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8968531" y="2769989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5° Task</a:t>
            </a:r>
            <a:r>
              <a:rPr lang="en-US" sz="1650" b="0" i="0" u="none" strike="noStrike" cap="none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: Esposizione CV</a:t>
            </a:r>
            <a:endParaRPr dirty="0"/>
          </a:p>
        </p:txBody>
      </p:sp>
      <p:sp>
        <p:nvSpPr>
          <p:cNvPr id="145" name="Google Shape;145;p17"/>
          <p:cNvSpPr txBox="1"/>
          <p:nvPr/>
        </p:nvSpPr>
        <p:spPr>
          <a:xfrm>
            <a:off x="8968531" y="3227189"/>
            <a:ext cx="26517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1 min</a:t>
            </a: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uto di p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resentazione orale del curriculum (Stress sociale).</a:t>
            </a:r>
            <a:endParaRPr/>
          </a:p>
        </p:txBody>
      </p:sp>
      <p:sp>
        <p:nvSpPr>
          <p:cNvPr id="146" name="Google Shape;146;p17"/>
          <p:cNvSpPr/>
          <p:nvPr/>
        </p:nvSpPr>
        <p:spPr>
          <a:xfrm>
            <a:off x="1783035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4582045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7381056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10180066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Protocollo Sperimentale</a:t>
            </a:r>
            <a:endParaRPr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2CAD9EF4-5565-D5DA-7D1F-059E60C563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463" y="421744"/>
            <a:ext cx="4778782" cy="1851519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8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Pipeline di Elaborazione</a:t>
            </a:r>
            <a:endParaRPr/>
          </a:p>
        </p:txBody>
      </p:sp>
      <p:pic>
        <p:nvPicPr>
          <p:cNvPr id="2" name="Google Shape;116;p16" descr="image.png">
            <a:extLst>
              <a:ext uri="{FF2B5EF4-FFF2-40B4-BE49-F238E27FC236}">
                <a16:creationId xmlns:a16="http://schemas.microsoft.com/office/drawing/2014/main" id="{7E2E3B5A-D2FA-76F2-F6F8-AB78827A702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714500"/>
            <a:ext cx="3492550" cy="38408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120;p16">
            <a:extLst>
              <a:ext uri="{FF2B5EF4-FFF2-40B4-BE49-F238E27FC236}">
                <a16:creationId xmlns:a16="http://schemas.microsoft.com/office/drawing/2014/main" id="{E83B7F86-DE31-8B6B-49F3-05653EF769FD}"/>
              </a:ext>
            </a:extLst>
          </p:cNvPr>
          <p:cNvSpPr txBox="1"/>
          <p:nvPr/>
        </p:nvSpPr>
        <p:spPr>
          <a:xfrm>
            <a:off x="866775" y="2867019"/>
            <a:ext cx="1350168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Filtraggio</a:t>
            </a:r>
            <a:endParaRPr dirty="0"/>
          </a:p>
        </p:txBody>
      </p:sp>
      <p:sp>
        <p:nvSpPr>
          <p:cNvPr id="4" name="Google Shape;121;p16">
            <a:extLst>
              <a:ext uri="{FF2B5EF4-FFF2-40B4-BE49-F238E27FC236}">
                <a16:creationId xmlns:a16="http://schemas.microsoft.com/office/drawing/2014/main" id="{969CDC16-4633-AF29-5A27-6AAA6DE3B85B}"/>
              </a:ext>
            </a:extLst>
          </p:cNvPr>
          <p:cNvSpPr txBox="1"/>
          <p:nvPr/>
        </p:nvSpPr>
        <p:spPr>
          <a:xfrm>
            <a:off x="866775" y="3409944"/>
            <a:ext cx="29019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Pulizia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segnali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PPG ed EDA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grezzi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dataset 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segmentazione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finestre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temporali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da 1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minuto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isolare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task.</a:t>
            </a:r>
            <a:endParaRPr dirty="0"/>
          </a:p>
        </p:txBody>
      </p:sp>
      <p:pic>
        <p:nvPicPr>
          <p:cNvPr id="6" name="Google Shape;116;p16" descr="image.png">
            <a:extLst>
              <a:ext uri="{FF2B5EF4-FFF2-40B4-BE49-F238E27FC236}">
                <a16:creationId xmlns:a16="http://schemas.microsoft.com/office/drawing/2014/main" id="{53386C4C-3FE9-A209-BF4A-1F1C1553214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50631" y="1696915"/>
            <a:ext cx="3492550" cy="38408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20;p16">
            <a:extLst>
              <a:ext uri="{FF2B5EF4-FFF2-40B4-BE49-F238E27FC236}">
                <a16:creationId xmlns:a16="http://schemas.microsoft.com/office/drawing/2014/main" id="{68CB0EAF-6943-9272-CAB7-6F4D3C22C685}"/>
              </a:ext>
            </a:extLst>
          </p:cNvPr>
          <p:cNvSpPr txBox="1"/>
          <p:nvPr/>
        </p:nvSpPr>
        <p:spPr>
          <a:xfrm>
            <a:off x="4804018" y="2867019"/>
            <a:ext cx="2648292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Estrazione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Features</a:t>
            </a:r>
            <a:endParaRPr lang="en-US" dirty="0"/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7E3A70AE-E8EE-6DC6-34CC-EF6EFDA82872}"/>
              </a:ext>
            </a:extLst>
          </p:cNvPr>
          <p:cNvSpPr txBox="1"/>
          <p:nvPr/>
        </p:nvSpPr>
        <p:spPr>
          <a:xfrm>
            <a:off x="4804018" y="3409944"/>
            <a:ext cx="2901900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Estrazione delle features per fornire al modello una rappresentazione chiara del segnale e dei dati.</a:t>
            </a:r>
            <a:endParaRPr lang="it-IT" dirty="0"/>
          </a:p>
        </p:txBody>
      </p:sp>
      <p:pic>
        <p:nvPicPr>
          <p:cNvPr id="10" name="Google Shape;116;p16" descr="image.png">
            <a:extLst>
              <a:ext uri="{FF2B5EF4-FFF2-40B4-BE49-F238E27FC236}">
                <a16:creationId xmlns:a16="http://schemas.microsoft.com/office/drawing/2014/main" id="{71E9812B-4213-C80C-1FE5-14DCE739AB6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289875" y="1714500"/>
            <a:ext cx="3492550" cy="3840875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20;p16">
            <a:extLst>
              <a:ext uri="{FF2B5EF4-FFF2-40B4-BE49-F238E27FC236}">
                <a16:creationId xmlns:a16="http://schemas.microsoft.com/office/drawing/2014/main" id="{FB6536E3-7B7C-8567-5AA1-01A75D25AF79}"/>
              </a:ext>
            </a:extLst>
          </p:cNvPr>
          <p:cNvSpPr txBox="1"/>
          <p:nvPr/>
        </p:nvSpPr>
        <p:spPr>
          <a:xfrm>
            <a:off x="8708975" y="2867019"/>
            <a:ext cx="2070393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Classificazione</a:t>
            </a:r>
            <a:endParaRPr dirty="0"/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BF99D06E-AFEB-D1DE-8EB4-5A7876261D6F}"/>
              </a:ext>
            </a:extLst>
          </p:cNvPr>
          <p:cNvSpPr txBox="1"/>
          <p:nvPr/>
        </p:nvSpPr>
        <p:spPr>
          <a:xfrm>
            <a:off x="8708976" y="3409944"/>
            <a:ext cx="29019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Addrestramento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dei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modelli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(Con Random Forest – RF, SVM e Logistic Regression)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utilizzando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10-Fold CV 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distinguere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tra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stato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di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Riposo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(Rest) e Stress.</a:t>
            </a:r>
            <a:endParaRPr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6380217F-B202-C238-B49D-E9AA263CCF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075" y="2066919"/>
            <a:ext cx="46672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A5EDEF66-74AA-36CE-62E8-C3B20354B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4018" y="2066919"/>
            <a:ext cx="457200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E7D5394C-92EC-6CAA-D974-245FD0B424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8975" y="2066919"/>
            <a:ext cx="46672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5713" y="591915"/>
            <a:ext cx="5452249" cy="2586447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9"/>
          <p:cNvSpPr txBox="1"/>
          <p:nvPr/>
        </p:nvSpPr>
        <p:spPr>
          <a:xfrm>
            <a:off x="571500" y="3108720"/>
            <a:ext cx="5286375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Segnale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BVP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Fotopletismografia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endParaRPr dirty="0">
              <a:solidFill>
                <a:schemeClr val="bg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72" name="Google Shape;172;p19"/>
          <p:cNvSpPr txBox="1"/>
          <p:nvPr/>
        </p:nvSpPr>
        <p:spPr>
          <a:xfrm>
            <a:off x="571500" y="1325346"/>
            <a:ext cx="5286375" cy="249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Segnale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EDA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Attività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Elettrodermica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endParaRPr dirty="0">
              <a:solidFill>
                <a:schemeClr val="bg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74" name="Google Shape;174;p19"/>
          <p:cNvSpPr txBox="1"/>
          <p:nvPr/>
        </p:nvSpPr>
        <p:spPr>
          <a:xfrm>
            <a:off x="952500" y="3496005"/>
            <a:ext cx="4914900" cy="1994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Filtraggio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Passa-Banda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(range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0.5 - 5 Hz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Chebyshev II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(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4°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ordine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), con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attenuazione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20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dB.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Ca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lcolo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della prima e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seconda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derivata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Rilevamento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Picchi (con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distanza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minima 0.4s)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Calcolo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delle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distanze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picco-picco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Scarto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segmenti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con intervalli anomaly (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oltre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al 15%)</a:t>
            </a:r>
            <a:endParaRPr lang="en-US" sz="1350" b="0" i="0" u="none" strike="noStrike" cap="none" dirty="0">
              <a:solidFill>
                <a:schemeClr val="bg1">
                  <a:lumMod val="85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8" name="Google Shape;178;p19"/>
          <p:cNvSpPr txBox="1"/>
          <p:nvPr/>
        </p:nvSpPr>
        <p:spPr>
          <a:xfrm>
            <a:off x="952575" y="1612927"/>
            <a:ext cx="49053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Ricampionamento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da 4 a 64 Hz.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Smoothing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Gaussiano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passa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-basso (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finestra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da 40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punti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sigma 400ms).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en-US" sz="1350" dirty="0">
              <a:solidFill>
                <a:schemeClr val="bg1">
                  <a:lumMod val="85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en-US" sz="1350" b="0" i="0" u="none" strike="noStrike" cap="none" dirty="0">
              <a:solidFill>
                <a:schemeClr val="bg1">
                  <a:lumMod val="85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2" name="Google Shape;182;p19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Preprocessing </a:t>
            </a: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Segnali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81649526-8FBF-F96B-D12C-018A74A1B2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020" y="677342"/>
            <a:ext cx="5355942" cy="2415595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AA48C4B3-FAD5-DCA2-2DD8-890A05DA5C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1490" y="3506208"/>
            <a:ext cx="5369534" cy="2386460"/>
          </a:xfrm>
          <a:prstGeom prst="rect">
            <a:avLst/>
          </a:prstGeom>
        </p:spPr>
      </p:pic>
      <p:pic>
        <p:nvPicPr>
          <p:cNvPr id="6" name="Google Shape;170;p19" descr="image.png">
            <a:extLst>
              <a:ext uri="{FF2B5EF4-FFF2-40B4-BE49-F238E27FC236}">
                <a16:creationId xmlns:a16="http://schemas.microsoft.com/office/drawing/2014/main" id="{EA2D10FB-101C-177B-A6FA-8C6A6FC0B08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98775" y="3427594"/>
            <a:ext cx="5452249" cy="25864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21"/>
          <p:cNvSpPr/>
          <p:nvPr/>
        </p:nvSpPr>
        <p:spPr>
          <a:xfrm>
            <a:off x="2549872" y="3674278"/>
            <a:ext cx="232246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1"/>
          <p:cNvSpPr/>
          <p:nvPr/>
        </p:nvSpPr>
        <p:spPr>
          <a:xfrm>
            <a:off x="4872335" y="3674278"/>
            <a:ext cx="674816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1"/>
          <p:cNvSpPr/>
          <p:nvPr/>
        </p:nvSpPr>
        <p:spPr>
          <a:xfrm>
            <a:off x="571500" y="4518590"/>
            <a:ext cx="19785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1"/>
          <p:cNvSpPr/>
          <p:nvPr/>
        </p:nvSpPr>
        <p:spPr>
          <a:xfrm>
            <a:off x="2549872" y="4518590"/>
            <a:ext cx="23226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1"/>
          <p:cNvSpPr/>
          <p:nvPr/>
        </p:nvSpPr>
        <p:spPr>
          <a:xfrm>
            <a:off x="4872335" y="4518590"/>
            <a:ext cx="67482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1"/>
          <p:cNvSpPr/>
          <p:nvPr/>
        </p:nvSpPr>
        <p:spPr>
          <a:xfrm>
            <a:off x="571500" y="5282505"/>
            <a:ext cx="197837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1"/>
          <p:cNvSpPr/>
          <p:nvPr/>
        </p:nvSpPr>
        <p:spPr>
          <a:xfrm>
            <a:off x="2549872" y="5282505"/>
            <a:ext cx="232246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1"/>
          <p:cNvSpPr/>
          <p:nvPr/>
        </p:nvSpPr>
        <p:spPr>
          <a:xfrm>
            <a:off x="4872335" y="5282505"/>
            <a:ext cx="674816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1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Risultati</a:t>
            </a:r>
            <a:r>
              <a:rPr lang="en-US" sz="30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10-Fold CV (con </a:t>
            </a:r>
            <a:r>
              <a:rPr lang="en-US" sz="3000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</a:t>
            </a:r>
            <a:r>
              <a:rPr lang="en-US" sz="30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arametri</a:t>
            </a:r>
            <a:r>
              <a:rPr lang="en-US" sz="30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del Paper)</a:t>
            </a:r>
            <a:endParaRPr dirty="0"/>
          </a:p>
        </p:txBody>
      </p:sp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5237AB42-61F1-B8F9-A67C-B50B74AC75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2614331"/>
              </p:ext>
            </p:extLst>
          </p:nvPr>
        </p:nvGraphicFramePr>
        <p:xfrm>
          <a:off x="525878" y="1565970"/>
          <a:ext cx="11140244" cy="4651785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2785061">
                  <a:extLst>
                    <a:ext uri="{9D8B030D-6E8A-4147-A177-3AD203B41FA5}">
                      <a16:colId xmlns:a16="http://schemas.microsoft.com/office/drawing/2014/main" val="3081880940"/>
                    </a:ext>
                  </a:extLst>
                </a:gridCol>
                <a:gridCol w="2785061">
                  <a:extLst>
                    <a:ext uri="{9D8B030D-6E8A-4147-A177-3AD203B41FA5}">
                      <a16:colId xmlns:a16="http://schemas.microsoft.com/office/drawing/2014/main" val="3755826218"/>
                    </a:ext>
                  </a:extLst>
                </a:gridCol>
                <a:gridCol w="2785061">
                  <a:extLst>
                    <a:ext uri="{9D8B030D-6E8A-4147-A177-3AD203B41FA5}">
                      <a16:colId xmlns:a16="http://schemas.microsoft.com/office/drawing/2014/main" val="2710693652"/>
                    </a:ext>
                  </a:extLst>
                </a:gridCol>
                <a:gridCol w="2785061">
                  <a:extLst>
                    <a:ext uri="{9D8B030D-6E8A-4147-A177-3AD203B41FA5}">
                      <a16:colId xmlns:a16="http://schemas.microsoft.com/office/drawing/2014/main" val="4179739913"/>
                    </a:ext>
                  </a:extLst>
                </a:gridCol>
              </a:tblGrid>
              <a:tr h="670712">
                <a:tc>
                  <a:txBody>
                    <a:bodyPr/>
                    <a:lstStyle/>
                    <a:p>
                      <a:pPr algn="l"/>
                      <a:r>
                        <a:rPr lang="it-IT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Algoritmo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Numero </a:t>
                      </a:r>
                      <a:r>
                        <a:rPr lang="it-IT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Learners</a:t>
                      </a:r>
                      <a:endParaRPr lang="it-IT"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Numero </a:t>
                      </a:r>
                      <a:r>
                        <a:rPr lang="it-IT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Splits</a:t>
                      </a:r>
                      <a:endParaRPr lang="it-IT"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Accuratezza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1320522"/>
                  </a:ext>
                </a:extLst>
              </a:tr>
              <a:tr h="670712">
                <a:tc>
                  <a:txBody>
                    <a:bodyPr/>
                    <a:lstStyle/>
                    <a:p>
                      <a:r>
                        <a:rPr lang="it-IT" b="1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Random Forest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50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500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72.61%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8874348"/>
                  </a:ext>
                </a:extLst>
              </a:tr>
              <a:tr h="627513">
                <a:tc>
                  <a:txBody>
                    <a:bodyPr/>
                    <a:lstStyle/>
                    <a:p>
                      <a:r>
                        <a:rPr lang="it-IT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Random Forest (Migliore)</a:t>
                      </a:r>
                    </a:p>
                  </a:txBody>
                  <a:tcPr anchor="ctr">
                    <a:solidFill>
                      <a:srgbClr val="32D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50</a:t>
                      </a:r>
                    </a:p>
                  </a:txBody>
                  <a:tcPr anchor="ctr">
                    <a:solidFill>
                      <a:srgbClr val="32D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1000</a:t>
                      </a:r>
                    </a:p>
                  </a:txBody>
                  <a:tcPr anchor="ctr">
                    <a:solidFill>
                      <a:srgbClr val="32D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72.77%</a:t>
                      </a:r>
                    </a:p>
                  </a:txBody>
                  <a:tcPr anchor="ctr">
                    <a:solidFill>
                      <a:srgbClr val="32DA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244543"/>
                  </a:ext>
                </a:extLst>
              </a:tr>
              <a:tr h="670712">
                <a:tc>
                  <a:txBody>
                    <a:bodyPr/>
                    <a:lstStyle/>
                    <a:p>
                      <a:r>
                        <a:rPr lang="it-IT" b="1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Random Forest</a:t>
                      </a:r>
                    </a:p>
                  </a:txBody>
                  <a:tcPr anchor="ctr">
                    <a:lnB>
                      <a:noFill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75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500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72.44%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464297"/>
                  </a:ext>
                </a:extLst>
              </a:tr>
              <a:tr h="670712">
                <a:tc>
                  <a:txBody>
                    <a:bodyPr/>
                    <a:lstStyle/>
                    <a:p>
                      <a:r>
                        <a:rPr lang="it-IT" b="1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Random Forest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100</a:t>
                      </a:r>
                    </a:p>
                  </a:txBody>
                  <a:tcPr anchor="ctr">
                    <a:lnL>
                      <a:noFill/>
                    </a:lnL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500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72.10%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1485753"/>
                  </a:ext>
                </a:extLst>
              </a:tr>
              <a:tr h="670712">
                <a:tc>
                  <a:txBody>
                    <a:bodyPr/>
                    <a:lstStyle/>
                    <a:p>
                      <a:r>
                        <a:rPr lang="it-IT" b="1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SVM (Kernel Cubico)</a:t>
                      </a:r>
                    </a:p>
                  </a:txBody>
                  <a:tcPr anchor="ctr"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 dirty="0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 dirty="0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72.10%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698479"/>
                  </a:ext>
                </a:extLst>
              </a:tr>
              <a:tr h="670712">
                <a:tc>
                  <a:txBody>
                    <a:bodyPr/>
                    <a:lstStyle/>
                    <a:p>
                      <a:r>
                        <a:rPr lang="it-IT" b="1" dirty="0" err="1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Logistic</a:t>
                      </a:r>
                      <a:r>
                        <a:rPr lang="it-IT" b="1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 </a:t>
                      </a:r>
                      <a:r>
                        <a:rPr lang="it-IT" b="1" dirty="0" err="1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Regression</a:t>
                      </a:r>
                      <a:endParaRPr lang="it-IT" b="1" dirty="0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anchor="ctr">
                    <a:lnT>
                      <a:noFill/>
                    </a:lnT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 dirty="0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 dirty="0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rPr>
                        <a:t>70.42%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310507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38">
          <a:extLst>
            <a:ext uri="{FF2B5EF4-FFF2-40B4-BE49-F238E27FC236}">
              <a16:creationId xmlns:a16="http://schemas.microsoft.com/office/drawing/2014/main" id="{0195A18D-63AD-EC9E-E574-F7089924A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23" descr="image.png">
            <a:extLst>
              <a:ext uri="{FF2B5EF4-FFF2-40B4-BE49-F238E27FC236}">
                <a16:creationId xmlns:a16="http://schemas.microsoft.com/office/drawing/2014/main" id="{20B13576-44AF-AC41-937A-85E71A40E2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3">
            <a:extLst>
              <a:ext uri="{FF2B5EF4-FFF2-40B4-BE49-F238E27FC236}">
                <a16:creationId xmlns:a16="http://schemas.microsoft.com/office/drawing/2014/main" id="{E8E246B9-C8FF-D351-384C-63CAFD24D8F1}"/>
              </a:ext>
            </a:extLst>
          </p:cNvPr>
          <p:cNvSpPr txBox="1"/>
          <p:nvPr/>
        </p:nvSpPr>
        <p:spPr>
          <a:xfrm>
            <a:off x="571500" y="571500"/>
            <a:ext cx="10355118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Matrici di confusione a confronto</a:t>
            </a:r>
            <a:endParaRPr lang="it-IT" dirty="0">
              <a:solidFill>
                <a:schemeClr val="bg1"/>
              </a:solidFill>
            </a:endParaRPr>
          </a:p>
        </p:txBody>
      </p:sp>
      <p:sp>
        <p:nvSpPr>
          <p:cNvPr id="5" name="Google Shape;94;p14">
            <a:extLst>
              <a:ext uri="{FF2B5EF4-FFF2-40B4-BE49-F238E27FC236}">
                <a16:creationId xmlns:a16="http://schemas.microsoft.com/office/drawing/2014/main" id="{9D4E0847-DC0B-7159-17A0-94AA772F33B8}"/>
              </a:ext>
            </a:extLst>
          </p:cNvPr>
          <p:cNvSpPr txBox="1"/>
          <p:nvPr/>
        </p:nvSpPr>
        <p:spPr>
          <a:xfrm>
            <a:off x="571499" y="1080720"/>
            <a:ext cx="8738755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Rispettivamente: RF (50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Learners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1000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Splits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), SVM (Kernel Cubico),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Logistic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Regression</a:t>
            </a:r>
            <a:endParaRPr lang="it-IT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3EE4CC44-C9ED-6D91-2D76-EFDF2DD61C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132" y="1807836"/>
            <a:ext cx="11133736" cy="44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0220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38">
          <a:extLst>
            <a:ext uri="{FF2B5EF4-FFF2-40B4-BE49-F238E27FC236}">
              <a16:creationId xmlns:a16="http://schemas.microsoft.com/office/drawing/2014/main" id="{CE9469F5-0835-FBAF-CF8E-030055470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23" descr="image.png">
            <a:extLst>
              <a:ext uri="{FF2B5EF4-FFF2-40B4-BE49-F238E27FC236}">
                <a16:creationId xmlns:a16="http://schemas.microsoft.com/office/drawing/2014/main" id="{67A1D27E-BF5F-6F2F-BF11-AC44AAF4D80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3">
            <a:extLst>
              <a:ext uri="{FF2B5EF4-FFF2-40B4-BE49-F238E27FC236}">
                <a16:creationId xmlns:a16="http://schemas.microsoft.com/office/drawing/2014/main" id="{0050B759-50F6-86FB-CE1A-9B83568E6061}"/>
              </a:ext>
            </a:extLst>
          </p:cNvPr>
          <p:cNvSpPr txBox="1"/>
          <p:nvPr/>
        </p:nvSpPr>
        <p:spPr>
          <a:xfrm>
            <a:off x="571500" y="571500"/>
            <a:ext cx="10355118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000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Ulteriori c</a:t>
            </a:r>
            <a:r>
              <a:rPr lang="it-IT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onfront</a:t>
            </a:r>
            <a:r>
              <a:rPr lang="it-IT" sz="3000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</a:t>
            </a:r>
            <a:endParaRPr lang="it-IT" dirty="0">
              <a:solidFill>
                <a:schemeClr val="bg1"/>
              </a:solidFill>
            </a:endParaRPr>
          </a:p>
        </p:txBody>
      </p:sp>
      <p:sp>
        <p:nvSpPr>
          <p:cNvPr id="5" name="Google Shape;94;p14">
            <a:extLst>
              <a:ext uri="{FF2B5EF4-FFF2-40B4-BE49-F238E27FC236}">
                <a16:creationId xmlns:a16="http://schemas.microsoft.com/office/drawing/2014/main" id="{960EF3A0-6660-895B-608A-2F5D49173964}"/>
              </a:ext>
            </a:extLst>
          </p:cNvPr>
          <p:cNvSpPr txBox="1"/>
          <p:nvPr/>
        </p:nvSpPr>
        <p:spPr>
          <a:xfrm>
            <a:off x="571499" y="1080720"/>
            <a:ext cx="8738755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Baseline: RF (50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Learners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1000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Splits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), SVM (Kernel Cubico),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Logistic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Regression</a:t>
            </a:r>
            <a:endParaRPr lang="it-IT" dirty="0"/>
          </a:p>
        </p:txBody>
      </p:sp>
      <p:sp>
        <p:nvSpPr>
          <p:cNvPr id="2" name="Google Shape;242;p23">
            <a:extLst>
              <a:ext uri="{FF2B5EF4-FFF2-40B4-BE49-F238E27FC236}">
                <a16:creationId xmlns:a16="http://schemas.microsoft.com/office/drawing/2014/main" id="{E47D3048-3245-400D-50F1-63F19628C0D1}"/>
              </a:ext>
            </a:extLst>
          </p:cNvPr>
          <p:cNvSpPr txBox="1"/>
          <p:nvPr/>
        </p:nvSpPr>
        <p:spPr>
          <a:xfrm>
            <a:off x="571499" y="1921053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Stress</a:t>
            </a:r>
            <a:endParaRPr dirty="0"/>
          </a:p>
        </p:txBody>
      </p:sp>
      <p:sp>
        <p:nvSpPr>
          <p:cNvPr id="3" name="Google Shape;244;p23">
            <a:extLst>
              <a:ext uri="{FF2B5EF4-FFF2-40B4-BE49-F238E27FC236}">
                <a16:creationId xmlns:a16="http://schemas.microsoft.com/office/drawing/2014/main" id="{493C8206-8BCF-0DDE-15C8-612F76983D1F}"/>
              </a:ext>
            </a:extLst>
          </p:cNvPr>
          <p:cNvSpPr txBox="1"/>
          <p:nvPr/>
        </p:nvSpPr>
        <p:spPr>
          <a:xfrm>
            <a:off x="571499" y="2318478"/>
            <a:ext cx="2918329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20000"/>
              </a:lnSpc>
            </a:pPr>
            <a:r>
              <a:rPr lang="en-US" sz="1350" b="1" dirty="0" err="1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72.77%</a:t>
            </a:r>
            <a:endParaRPr lang="en-US" sz="1350" b="1" dirty="0">
              <a:solidFill>
                <a:schemeClr val="bg2">
                  <a:lumMod val="20000"/>
                  <a:lumOff val="80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75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77%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76%</a:t>
            </a:r>
          </a:p>
        </p:txBody>
      </p:sp>
      <p:sp>
        <p:nvSpPr>
          <p:cNvPr id="8" name="Google Shape;242;p23">
            <a:extLst>
              <a:ext uri="{FF2B5EF4-FFF2-40B4-BE49-F238E27FC236}">
                <a16:creationId xmlns:a16="http://schemas.microsoft.com/office/drawing/2014/main" id="{E8270794-652B-71F1-44F5-250AB2DFD394}"/>
              </a:ext>
            </a:extLst>
          </p:cNvPr>
          <p:cNvSpPr txBox="1"/>
          <p:nvPr/>
        </p:nvSpPr>
        <p:spPr>
          <a:xfrm>
            <a:off x="571499" y="1611931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Random Forest</a:t>
            </a:r>
            <a:endParaRPr b="1" dirty="0"/>
          </a:p>
        </p:txBody>
      </p:sp>
      <p:sp>
        <p:nvSpPr>
          <p:cNvPr id="9" name="Google Shape;242;p23">
            <a:extLst>
              <a:ext uri="{FF2B5EF4-FFF2-40B4-BE49-F238E27FC236}">
                <a16:creationId xmlns:a16="http://schemas.microsoft.com/office/drawing/2014/main" id="{8BB35FC6-AAEA-1B6B-0A3C-6FB66AC6ACE9}"/>
              </a:ext>
            </a:extLst>
          </p:cNvPr>
          <p:cNvSpPr txBox="1"/>
          <p:nvPr/>
        </p:nvSpPr>
        <p:spPr>
          <a:xfrm>
            <a:off x="4346854" y="1926712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Stress</a:t>
            </a:r>
            <a:endParaRPr dirty="0"/>
          </a:p>
        </p:txBody>
      </p:sp>
      <p:sp>
        <p:nvSpPr>
          <p:cNvPr id="10" name="Google Shape;244;p23">
            <a:extLst>
              <a:ext uri="{FF2B5EF4-FFF2-40B4-BE49-F238E27FC236}">
                <a16:creationId xmlns:a16="http://schemas.microsoft.com/office/drawing/2014/main" id="{A278B431-E26E-759D-9D89-E80F56AA3C32}"/>
              </a:ext>
            </a:extLst>
          </p:cNvPr>
          <p:cNvSpPr txBox="1"/>
          <p:nvPr/>
        </p:nvSpPr>
        <p:spPr>
          <a:xfrm>
            <a:off x="4346854" y="2318478"/>
            <a:ext cx="2918329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350" b="1" dirty="0" err="1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72.10%</a:t>
            </a:r>
            <a:endParaRPr lang="en-US" sz="1350" b="1" dirty="0">
              <a:solidFill>
                <a:schemeClr val="bg2">
                  <a:lumMod val="20000"/>
                  <a:lumOff val="80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74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76%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75%</a:t>
            </a:r>
          </a:p>
        </p:txBody>
      </p:sp>
      <p:sp>
        <p:nvSpPr>
          <p:cNvPr id="11" name="Google Shape;242;p23">
            <a:extLst>
              <a:ext uri="{FF2B5EF4-FFF2-40B4-BE49-F238E27FC236}">
                <a16:creationId xmlns:a16="http://schemas.microsoft.com/office/drawing/2014/main" id="{0ED19050-B209-4A04-1982-8C029B8A3D73}"/>
              </a:ext>
            </a:extLst>
          </p:cNvPr>
          <p:cNvSpPr txBox="1"/>
          <p:nvPr/>
        </p:nvSpPr>
        <p:spPr>
          <a:xfrm>
            <a:off x="4346855" y="1604665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SVM (</a:t>
            </a:r>
            <a:r>
              <a:rPr lang="en-US" sz="2100" b="1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Cubica</a:t>
            </a:r>
            <a:r>
              <a:rPr lang="en-US" sz="2100" b="1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)</a:t>
            </a:r>
            <a:endParaRPr b="1" dirty="0"/>
          </a:p>
        </p:txBody>
      </p:sp>
      <p:sp>
        <p:nvSpPr>
          <p:cNvPr id="12" name="Google Shape;242;p23">
            <a:extLst>
              <a:ext uri="{FF2B5EF4-FFF2-40B4-BE49-F238E27FC236}">
                <a16:creationId xmlns:a16="http://schemas.microsoft.com/office/drawing/2014/main" id="{0249F397-6373-BAD8-41CB-16A0772BCACE}"/>
              </a:ext>
            </a:extLst>
          </p:cNvPr>
          <p:cNvSpPr txBox="1"/>
          <p:nvPr/>
        </p:nvSpPr>
        <p:spPr>
          <a:xfrm>
            <a:off x="8210754" y="1952302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Stress</a:t>
            </a:r>
            <a:endParaRPr dirty="0"/>
          </a:p>
        </p:txBody>
      </p:sp>
      <p:sp>
        <p:nvSpPr>
          <p:cNvPr id="13" name="Google Shape;244;p23">
            <a:extLst>
              <a:ext uri="{FF2B5EF4-FFF2-40B4-BE49-F238E27FC236}">
                <a16:creationId xmlns:a16="http://schemas.microsoft.com/office/drawing/2014/main" id="{146CE94C-5287-0570-0969-A09933B67553}"/>
              </a:ext>
            </a:extLst>
          </p:cNvPr>
          <p:cNvSpPr txBox="1"/>
          <p:nvPr/>
        </p:nvSpPr>
        <p:spPr>
          <a:xfrm>
            <a:off x="8243020" y="2318478"/>
            <a:ext cx="2918329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350" b="1" dirty="0" err="1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70.42%</a:t>
            </a:r>
            <a:endParaRPr lang="en-US" sz="1350" b="1" i="0" u="none" strike="noStrike" cap="none" dirty="0">
              <a:solidFill>
                <a:schemeClr val="bg2">
                  <a:lumMod val="20000"/>
                  <a:lumOff val="80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73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74%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73%</a:t>
            </a:r>
          </a:p>
        </p:txBody>
      </p:sp>
      <p:sp>
        <p:nvSpPr>
          <p:cNvPr id="14" name="Google Shape;242;p23">
            <a:extLst>
              <a:ext uri="{FF2B5EF4-FFF2-40B4-BE49-F238E27FC236}">
                <a16:creationId xmlns:a16="http://schemas.microsoft.com/office/drawing/2014/main" id="{19386B87-908C-40F6-EFF0-AD1CB92DECAA}"/>
              </a:ext>
            </a:extLst>
          </p:cNvPr>
          <p:cNvSpPr txBox="1"/>
          <p:nvPr/>
        </p:nvSpPr>
        <p:spPr>
          <a:xfrm>
            <a:off x="8210754" y="1604665"/>
            <a:ext cx="259851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Logistic Regression</a:t>
            </a:r>
            <a:endParaRPr b="1" dirty="0"/>
          </a:p>
        </p:txBody>
      </p:sp>
      <p:sp>
        <p:nvSpPr>
          <p:cNvPr id="4" name="Google Shape;94;p14">
            <a:extLst>
              <a:ext uri="{FF2B5EF4-FFF2-40B4-BE49-F238E27FC236}">
                <a16:creationId xmlns:a16="http://schemas.microsoft.com/office/drawing/2014/main" id="{C4ADCDF9-C5F5-321F-20CD-452BFBD96E72}"/>
              </a:ext>
            </a:extLst>
          </p:cNvPr>
          <p:cNvSpPr txBox="1"/>
          <p:nvPr/>
        </p:nvSpPr>
        <p:spPr>
          <a:xfrm>
            <a:off x="486507" y="3540059"/>
            <a:ext cx="11180885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Soglia PPI 0.60 vs 0.85: 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RF (75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Learners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750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Splits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), SVM (Kernel Cubico),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Logistic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Regression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RUSBoost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(150 cicli, 15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Splits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endParaRPr lang="it-IT" dirty="0"/>
          </a:p>
        </p:txBody>
      </p:sp>
      <p:sp>
        <p:nvSpPr>
          <p:cNvPr id="6" name="Google Shape;242;p23">
            <a:extLst>
              <a:ext uri="{FF2B5EF4-FFF2-40B4-BE49-F238E27FC236}">
                <a16:creationId xmlns:a16="http://schemas.microsoft.com/office/drawing/2014/main" id="{68542087-848E-15F3-1DDB-6384011945E2}"/>
              </a:ext>
            </a:extLst>
          </p:cNvPr>
          <p:cNvSpPr txBox="1"/>
          <p:nvPr/>
        </p:nvSpPr>
        <p:spPr>
          <a:xfrm>
            <a:off x="486507" y="4502947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Stress</a:t>
            </a:r>
            <a:endParaRPr dirty="0"/>
          </a:p>
        </p:txBody>
      </p:sp>
      <p:sp>
        <p:nvSpPr>
          <p:cNvPr id="7" name="Google Shape;244;p23">
            <a:extLst>
              <a:ext uri="{FF2B5EF4-FFF2-40B4-BE49-F238E27FC236}">
                <a16:creationId xmlns:a16="http://schemas.microsoft.com/office/drawing/2014/main" id="{C993AE8B-39B2-2D3F-9457-8A6819195AC5}"/>
              </a:ext>
            </a:extLst>
          </p:cNvPr>
          <p:cNvSpPr txBox="1"/>
          <p:nvPr/>
        </p:nvSpPr>
        <p:spPr>
          <a:xfrm>
            <a:off x="486507" y="4900372"/>
            <a:ext cx="2918329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20000"/>
              </a:lnSpc>
            </a:pPr>
            <a:r>
              <a:rPr lang="en-US" sz="1350" b="1" dirty="0" err="1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1" dirty="0">
                <a:solidFill>
                  <a:srgbClr val="21EB9E"/>
                </a:solidFill>
                <a:latin typeface="Inter"/>
                <a:ea typeface="Inter"/>
                <a:cs typeface="Inter"/>
                <a:sym typeface="Inter"/>
              </a:rPr>
              <a:t>74.91%</a:t>
            </a: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77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88%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82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</a:p>
        </p:txBody>
      </p:sp>
      <p:sp>
        <p:nvSpPr>
          <p:cNvPr id="15" name="Google Shape;242;p23">
            <a:extLst>
              <a:ext uri="{FF2B5EF4-FFF2-40B4-BE49-F238E27FC236}">
                <a16:creationId xmlns:a16="http://schemas.microsoft.com/office/drawing/2014/main" id="{19CF970C-83E2-28D5-60F6-A997C0F054E4}"/>
              </a:ext>
            </a:extLst>
          </p:cNvPr>
          <p:cNvSpPr txBox="1"/>
          <p:nvPr/>
        </p:nvSpPr>
        <p:spPr>
          <a:xfrm>
            <a:off x="486507" y="4193825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Random Forest</a:t>
            </a:r>
            <a:endParaRPr b="1" dirty="0"/>
          </a:p>
        </p:txBody>
      </p:sp>
      <p:sp>
        <p:nvSpPr>
          <p:cNvPr id="16" name="Google Shape;242;p23">
            <a:extLst>
              <a:ext uri="{FF2B5EF4-FFF2-40B4-BE49-F238E27FC236}">
                <a16:creationId xmlns:a16="http://schemas.microsoft.com/office/drawing/2014/main" id="{64845E2F-7DCC-0985-E059-DAD73C3159EF}"/>
              </a:ext>
            </a:extLst>
          </p:cNvPr>
          <p:cNvSpPr txBox="1"/>
          <p:nvPr/>
        </p:nvSpPr>
        <p:spPr>
          <a:xfrm>
            <a:off x="3315589" y="4515872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Stress</a:t>
            </a:r>
            <a:endParaRPr dirty="0"/>
          </a:p>
        </p:txBody>
      </p:sp>
      <p:sp>
        <p:nvSpPr>
          <p:cNvPr id="17" name="Google Shape;244;p23">
            <a:extLst>
              <a:ext uri="{FF2B5EF4-FFF2-40B4-BE49-F238E27FC236}">
                <a16:creationId xmlns:a16="http://schemas.microsoft.com/office/drawing/2014/main" id="{9C5FA7D9-9000-3A53-4C50-0075A48D0216}"/>
              </a:ext>
            </a:extLst>
          </p:cNvPr>
          <p:cNvSpPr txBox="1"/>
          <p:nvPr/>
        </p:nvSpPr>
        <p:spPr>
          <a:xfrm>
            <a:off x="3315589" y="4907638"/>
            <a:ext cx="2918329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350" b="1" dirty="0" err="1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74.16%</a:t>
            </a:r>
            <a:endParaRPr lang="en-US" sz="1350" b="1" dirty="0">
              <a:solidFill>
                <a:schemeClr val="bg2">
                  <a:lumMod val="20000"/>
                  <a:lumOff val="80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75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90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82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</a:p>
        </p:txBody>
      </p:sp>
      <p:sp>
        <p:nvSpPr>
          <p:cNvPr id="18" name="Google Shape;242;p23">
            <a:extLst>
              <a:ext uri="{FF2B5EF4-FFF2-40B4-BE49-F238E27FC236}">
                <a16:creationId xmlns:a16="http://schemas.microsoft.com/office/drawing/2014/main" id="{9978A342-2A96-7717-809E-C1FE390BF954}"/>
              </a:ext>
            </a:extLst>
          </p:cNvPr>
          <p:cNvSpPr txBox="1"/>
          <p:nvPr/>
        </p:nvSpPr>
        <p:spPr>
          <a:xfrm>
            <a:off x="3315590" y="4193825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SVM (</a:t>
            </a:r>
            <a:r>
              <a:rPr lang="en-US" sz="2100" b="1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Cubica</a:t>
            </a:r>
            <a:r>
              <a:rPr lang="en-US" sz="2100" b="1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)</a:t>
            </a:r>
            <a:endParaRPr b="1" dirty="0"/>
          </a:p>
        </p:txBody>
      </p:sp>
      <p:sp>
        <p:nvSpPr>
          <p:cNvPr id="19" name="Google Shape;242;p23">
            <a:extLst>
              <a:ext uri="{FF2B5EF4-FFF2-40B4-BE49-F238E27FC236}">
                <a16:creationId xmlns:a16="http://schemas.microsoft.com/office/drawing/2014/main" id="{EB065E2A-212A-B233-748D-4B3A28366D58}"/>
              </a:ext>
            </a:extLst>
          </p:cNvPr>
          <p:cNvSpPr txBox="1"/>
          <p:nvPr/>
        </p:nvSpPr>
        <p:spPr>
          <a:xfrm>
            <a:off x="5886498" y="4525298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Stress</a:t>
            </a:r>
            <a:endParaRPr dirty="0"/>
          </a:p>
        </p:txBody>
      </p:sp>
      <p:sp>
        <p:nvSpPr>
          <p:cNvPr id="20" name="Google Shape;244;p23">
            <a:extLst>
              <a:ext uri="{FF2B5EF4-FFF2-40B4-BE49-F238E27FC236}">
                <a16:creationId xmlns:a16="http://schemas.microsoft.com/office/drawing/2014/main" id="{AEA4055E-A3DC-15E1-679A-981D1D4B12E4}"/>
              </a:ext>
            </a:extLst>
          </p:cNvPr>
          <p:cNvSpPr txBox="1"/>
          <p:nvPr/>
        </p:nvSpPr>
        <p:spPr>
          <a:xfrm>
            <a:off x="5886498" y="4891474"/>
            <a:ext cx="2918329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350" b="1" dirty="0" err="1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71.07%</a:t>
            </a:r>
            <a:endParaRPr lang="en-US" sz="1350" b="1" i="0" u="none" strike="noStrike" cap="none" dirty="0">
              <a:solidFill>
                <a:schemeClr val="bg2">
                  <a:lumMod val="20000"/>
                  <a:lumOff val="80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73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87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79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</a:p>
        </p:txBody>
      </p:sp>
      <p:sp>
        <p:nvSpPr>
          <p:cNvPr id="21" name="Google Shape;242;p23">
            <a:extLst>
              <a:ext uri="{FF2B5EF4-FFF2-40B4-BE49-F238E27FC236}">
                <a16:creationId xmlns:a16="http://schemas.microsoft.com/office/drawing/2014/main" id="{53869A8C-7686-D029-DFD2-DEB163F49FC2}"/>
              </a:ext>
            </a:extLst>
          </p:cNvPr>
          <p:cNvSpPr txBox="1"/>
          <p:nvPr/>
        </p:nvSpPr>
        <p:spPr>
          <a:xfrm>
            <a:off x="5886498" y="4177661"/>
            <a:ext cx="259851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Logistic Regression</a:t>
            </a:r>
            <a:endParaRPr b="1" dirty="0"/>
          </a:p>
        </p:txBody>
      </p:sp>
      <p:sp>
        <p:nvSpPr>
          <p:cNvPr id="22" name="Google Shape;242;p23">
            <a:extLst>
              <a:ext uri="{FF2B5EF4-FFF2-40B4-BE49-F238E27FC236}">
                <a16:creationId xmlns:a16="http://schemas.microsoft.com/office/drawing/2014/main" id="{97ACBC11-6E93-2047-9FB2-37AA1F318B43}"/>
              </a:ext>
            </a:extLst>
          </p:cNvPr>
          <p:cNvSpPr txBox="1"/>
          <p:nvPr/>
        </p:nvSpPr>
        <p:spPr>
          <a:xfrm>
            <a:off x="9023841" y="4534196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Stress</a:t>
            </a:r>
            <a:endParaRPr dirty="0"/>
          </a:p>
        </p:txBody>
      </p:sp>
      <p:sp>
        <p:nvSpPr>
          <p:cNvPr id="23" name="Google Shape;244;p23">
            <a:extLst>
              <a:ext uri="{FF2B5EF4-FFF2-40B4-BE49-F238E27FC236}">
                <a16:creationId xmlns:a16="http://schemas.microsoft.com/office/drawing/2014/main" id="{DDE83B2C-7292-EE31-5BCC-5B8DC47BEAB3}"/>
              </a:ext>
            </a:extLst>
          </p:cNvPr>
          <p:cNvSpPr txBox="1"/>
          <p:nvPr/>
        </p:nvSpPr>
        <p:spPr>
          <a:xfrm>
            <a:off x="9023841" y="4900372"/>
            <a:ext cx="2442173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350" b="1" dirty="0" err="1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dirty="0">
                <a:solidFill>
                  <a:schemeClr val="accent3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73.78%</a:t>
            </a:r>
            <a:endParaRPr lang="en-US" sz="1350" b="1" i="0" u="none" strike="noStrike" cap="none" dirty="0">
              <a:solidFill>
                <a:schemeClr val="bg2">
                  <a:lumMod val="20000"/>
                  <a:lumOff val="80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78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83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80%</a:t>
            </a:r>
          </a:p>
        </p:txBody>
      </p:sp>
      <p:sp>
        <p:nvSpPr>
          <p:cNvPr id="24" name="Google Shape;242;p23">
            <a:extLst>
              <a:ext uri="{FF2B5EF4-FFF2-40B4-BE49-F238E27FC236}">
                <a16:creationId xmlns:a16="http://schemas.microsoft.com/office/drawing/2014/main" id="{3BB401BA-7DF0-1634-47FF-96BAF1073E89}"/>
              </a:ext>
            </a:extLst>
          </p:cNvPr>
          <p:cNvSpPr txBox="1"/>
          <p:nvPr/>
        </p:nvSpPr>
        <p:spPr>
          <a:xfrm>
            <a:off x="9023841" y="4186559"/>
            <a:ext cx="259851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RUSBoost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1174189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38">
          <a:extLst>
            <a:ext uri="{FF2B5EF4-FFF2-40B4-BE49-F238E27FC236}">
              <a16:creationId xmlns:a16="http://schemas.microsoft.com/office/drawing/2014/main" id="{B962F93B-3165-2B10-50E5-ECB0A527F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23" descr="image.png">
            <a:extLst>
              <a:ext uri="{FF2B5EF4-FFF2-40B4-BE49-F238E27FC236}">
                <a16:creationId xmlns:a16="http://schemas.microsoft.com/office/drawing/2014/main" id="{C0EAC803-6B45-4FEC-8942-FCEAC0A5E41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3">
            <a:extLst>
              <a:ext uri="{FF2B5EF4-FFF2-40B4-BE49-F238E27FC236}">
                <a16:creationId xmlns:a16="http://schemas.microsoft.com/office/drawing/2014/main" id="{7E08B28F-80D9-593E-F8C8-F568FC642319}"/>
              </a:ext>
            </a:extLst>
          </p:cNvPr>
          <p:cNvSpPr txBox="1"/>
          <p:nvPr/>
        </p:nvSpPr>
        <p:spPr>
          <a:xfrm>
            <a:off x="571500" y="571500"/>
            <a:ext cx="10355118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Matrici di confusione a confronto (Sperimentale)</a:t>
            </a:r>
            <a:endParaRPr lang="it-IT" dirty="0">
              <a:solidFill>
                <a:schemeClr val="bg1"/>
              </a:solidFill>
            </a:endParaRPr>
          </a:p>
        </p:txBody>
      </p:sp>
      <p:sp>
        <p:nvSpPr>
          <p:cNvPr id="5" name="Google Shape;94;p14">
            <a:extLst>
              <a:ext uri="{FF2B5EF4-FFF2-40B4-BE49-F238E27FC236}">
                <a16:creationId xmlns:a16="http://schemas.microsoft.com/office/drawing/2014/main" id="{25730225-4782-4493-AC1B-59A1F0F48F5F}"/>
              </a:ext>
            </a:extLst>
          </p:cNvPr>
          <p:cNvSpPr txBox="1"/>
          <p:nvPr/>
        </p:nvSpPr>
        <p:spPr>
          <a:xfrm>
            <a:off x="571499" y="1080720"/>
            <a:ext cx="10355118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Rispettivamente: RF (</a:t>
            </a:r>
            <a:r>
              <a:rPr lang="it-IT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75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Learners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750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Splits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), SVM (Kernel Cubico),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Logistic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Regression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RUSBoost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(150 cicli, 15 </a:t>
            </a:r>
            <a:r>
              <a:rPr lang="it-IT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plits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 </a:t>
            </a:r>
            <a:endParaRPr lang="it-IT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8C5375A9-28EF-EB41-5D77-C24A1B355B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200" y="1937538"/>
            <a:ext cx="11855600" cy="3839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0436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3"/>
          <p:cNvSpPr txBox="1"/>
          <p:nvPr/>
        </p:nvSpPr>
        <p:spPr>
          <a:xfrm>
            <a:off x="487555" y="1829915"/>
            <a:ext cx="528637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b="1" i="0" u="none" strike="noStrike" cap="none" dirty="0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72.77%</a:t>
            </a:r>
            <a:endParaRPr dirty="0"/>
          </a:p>
        </p:txBody>
      </p:sp>
      <p:sp>
        <p:nvSpPr>
          <p:cNvPr id="241" name="Google Shape;241;p23"/>
          <p:cNvSpPr txBox="1"/>
          <p:nvPr/>
        </p:nvSpPr>
        <p:spPr>
          <a:xfrm>
            <a:off x="414241" y="3224143"/>
            <a:ext cx="5433002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ACCURATEZZA GLOBALE (Target Paper: 76.5%)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42" name="Google Shape;242;p23"/>
          <p:cNvSpPr txBox="1"/>
          <p:nvPr/>
        </p:nvSpPr>
        <p:spPr>
          <a:xfrm>
            <a:off x="3810115" y="4457646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Stress</a:t>
            </a:r>
            <a:endParaRPr dirty="0"/>
          </a:p>
        </p:txBody>
      </p:sp>
      <p:sp>
        <p:nvSpPr>
          <p:cNvPr id="244" name="Google Shape;244;p23"/>
          <p:cNvSpPr txBox="1"/>
          <p:nvPr/>
        </p:nvSpPr>
        <p:spPr>
          <a:xfrm>
            <a:off x="3810115" y="4967194"/>
            <a:ext cx="2918329" cy="1006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75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77%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76%</a:t>
            </a: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sym typeface="Inter"/>
              </a:rPr>
              <a:t>Distribuzione Classi: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sym typeface="Inter"/>
              </a:rPr>
              <a:t>328 Stress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46" name="Google Shape;246;p23"/>
          <p:cNvSpPr txBox="1"/>
          <p:nvPr/>
        </p:nvSpPr>
        <p:spPr>
          <a:xfrm>
            <a:off x="571500" y="571500"/>
            <a:ext cx="10355118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Metriche</a:t>
            </a: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: </a:t>
            </a: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Modello</a:t>
            </a: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Migliore (Random Forest)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" name="Google Shape;242;p23">
            <a:extLst>
              <a:ext uri="{FF2B5EF4-FFF2-40B4-BE49-F238E27FC236}">
                <a16:creationId xmlns:a16="http://schemas.microsoft.com/office/drawing/2014/main" id="{8D221085-EB71-B68E-BE83-DE8E04837C15}"/>
              </a:ext>
            </a:extLst>
          </p:cNvPr>
          <p:cNvSpPr txBox="1"/>
          <p:nvPr/>
        </p:nvSpPr>
        <p:spPr>
          <a:xfrm>
            <a:off x="414241" y="4496636"/>
            <a:ext cx="22902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dirty="0" err="1">
                <a:solidFill>
                  <a:srgbClr val="38BDF8"/>
                </a:solidFill>
                <a:latin typeface="Poppins Medium"/>
                <a:cs typeface="Poppins Medium"/>
                <a:sym typeface="Poppins Medium"/>
              </a:rPr>
              <a:t>Riposo</a:t>
            </a:r>
            <a:r>
              <a:rPr lang="en-US" sz="2100" dirty="0">
                <a:solidFill>
                  <a:srgbClr val="38BDF8"/>
                </a:solidFill>
                <a:latin typeface="Poppins Medium"/>
                <a:cs typeface="Poppins Medium"/>
                <a:sym typeface="Poppins Medium"/>
              </a:rPr>
              <a:t> (Rest)</a:t>
            </a:r>
            <a:endParaRPr dirty="0"/>
          </a:p>
        </p:txBody>
      </p:sp>
      <p:sp>
        <p:nvSpPr>
          <p:cNvPr id="10" name="Google Shape;244;p23">
            <a:extLst>
              <a:ext uri="{FF2B5EF4-FFF2-40B4-BE49-F238E27FC236}">
                <a16:creationId xmlns:a16="http://schemas.microsoft.com/office/drawing/2014/main" id="{8853605B-17C0-B565-2331-A581F3F04510}"/>
              </a:ext>
            </a:extLst>
          </p:cNvPr>
          <p:cNvSpPr txBox="1"/>
          <p:nvPr/>
        </p:nvSpPr>
        <p:spPr>
          <a:xfrm>
            <a:off x="414241" y="5006184"/>
            <a:ext cx="2918329" cy="1006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70%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68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69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sym typeface="Inter"/>
              </a:rPr>
              <a:t>Distribuzione Classi: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sym typeface="Inter"/>
              </a:rPr>
              <a:t>267 Rest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F00436ED-F9F7-92E9-71BE-2791417FA0BA}"/>
              </a:ext>
            </a:extLst>
          </p:cNvPr>
          <p:cNvSpPr txBox="1"/>
          <p:nvPr/>
        </p:nvSpPr>
        <p:spPr>
          <a:xfrm>
            <a:off x="571499" y="1080720"/>
            <a:ext cx="8738755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Random Forest con 50 </a:t>
            </a:r>
            <a:r>
              <a:rPr lang="it-IT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earners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 1000 </a:t>
            </a:r>
            <a:r>
              <a:rPr lang="it-IT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Splits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lang="it-IT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D57B7CE6-F65C-AFC9-4F93-E6FF782F98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7917" y="1829915"/>
            <a:ext cx="4973124" cy="330696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2" name="Google Shape;94;p14">
            <a:extLst>
              <a:ext uri="{FF2B5EF4-FFF2-40B4-BE49-F238E27FC236}">
                <a16:creationId xmlns:a16="http://schemas.microsoft.com/office/drawing/2014/main" id="{F7E61213-9736-9159-47D0-DCF87F822313}"/>
              </a:ext>
            </a:extLst>
          </p:cNvPr>
          <p:cNvSpPr txBox="1"/>
          <p:nvPr/>
        </p:nvSpPr>
        <p:spPr>
          <a:xfrm>
            <a:off x="1559369" y="3591436"/>
            <a:ext cx="3732753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Con soglia PPI 0.60 migliora a </a:t>
            </a:r>
            <a:r>
              <a:rPr lang="it-IT" sz="1350" b="1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74,91%</a:t>
            </a:r>
            <a:r>
              <a:rPr lang="it-IT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lang="it-IT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6"/>
          <p:cNvSpPr txBox="1"/>
          <p:nvPr/>
        </p:nvSpPr>
        <p:spPr>
          <a:xfrm>
            <a:off x="1971600" y="1543591"/>
            <a:ext cx="8248800" cy="3393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Seguendo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le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indicazioni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del paper è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stato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possibile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avvicinarsi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alla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precisione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dichiarata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(72.77%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contro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il 76.5%), con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possibilità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di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miglioramento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tramite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PPI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diversi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e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ulteriore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tuning.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72" name="Google Shape;272;p26"/>
          <p:cNvSpPr txBox="1"/>
          <p:nvPr/>
        </p:nvSpPr>
        <p:spPr>
          <a:xfrm>
            <a:off x="6278550" y="5447254"/>
            <a:ext cx="5124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— </a:t>
            </a:r>
            <a:r>
              <a:rPr lang="en-US" sz="1800" dirty="0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G.C. </a:t>
            </a:r>
            <a:r>
              <a:rPr lang="en-US" sz="1800" b="0" i="0" u="none" strike="noStrike" cap="none" dirty="0" err="1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Interfacce</a:t>
            </a:r>
            <a:r>
              <a:rPr lang="en-US" sz="1800" b="0" i="0" u="none" strike="noStrike" cap="none" dirty="0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Uomo-</a:t>
            </a:r>
            <a:r>
              <a:rPr lang="en-US" sz="1800" b="0" i="0" u="none" strike="noStrike" cap="none" dirty="0" err="1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Macchina</a:t>
            </a:r>
            <a:endParaRPr dirty="0">
              <a:solidFill>
                <a:srgbClr val="00B0F0"/>
              </a:solidFill>
            </a:endParaRPr>
          </a:p>
        </p:txBody>
      </p:sp>
      <p:sp>
        <p:nvSpPr>
          <p:cNvPr id="273" name="Google Shape;273;p26"/>
          <p:cNvSpPr txBox="1"/>
          <p:nvPr/>
        </p:nvSpPr>
        <p:spPr>
          <a:xfrm>
            <a:off x="1304925" y="2277516"/>
            <a:ext cx="371475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"</a:t>
            </a:r>
            <a:endParaRPr/>
          </a:p>
        </p:txBody>
      </p:sp>
      <p:sp>
        <p:nvSpPr>
          <p:cNvPr id="274" name="Google Shape;274;p26"/>
          <p:cNvSpPr txBox="1"/>
          <p:nvPr/>
        </p:nvSpPr>
        <p:spPr>
          <a:xfrm>
            <a:off x="10515600" y="5447255"/>
            <a:ext cx="371475" cy="1410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"</a:t>
            </a:r>
            <a:endParaRPr/>
          </a:p>
        </p:txBody>
      </p:sp>
      <p:sp>
        <p:nvSpPr>
          <p:cNvPr id="275" name="Google Shape;275;p26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Conclusioni</a:t>
            </a: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e </a:t>
            </a: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Sviluppi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</TotalTime>
  <Words>931</Words>
  <Application>Microsoft Office PowerPoint</Application>
  <PresentationFormat>Widescreen</PresentationFormat>
  <Paragraphs>123</Paragraphs>
  <Slides>13</Slides>
  <Notes>13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13</vt:i4>
      </vt:variant>
    </vt:vector>
  </HeadingPairs>
  <TitlesOfParts>
    <vt:vector size="21" baseType="lpstr">
      <vt:lpstr>Calibri</vt:lpstr>
      <vt:lpstr>Inter SemiBold</vt:lpstr>
      <vt:lpstr>Poppins</vt:lpstr>
      <vt:lpstr>Poppins SemiBold</vt:lpstr>
      <vt:lpstr>Inter</vt:lpstr>
      <vt:lpstr>Poppins Medium</vt:lpstr>
      <vt:lpstr>Arial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CARETTI GABRIELE</cp:lastModifiedBy>
  <cp:revision>58</cp:revision>
  <dcterms:modified xsi:type="dcterms:W3CDTF">2026-05-30T10:06:28Z</dcterms:modified>
</cp:coreProperties>
</file>