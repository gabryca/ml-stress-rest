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embeddedFontLst>
    <p:embeddedFont>
      <p:font typeface="Inter" panose="020B0604020202020204" charset="0"/>
      <p:regular r:id="rId18"/>
      <p:bold r:id="rId19"/>
      <p:italic r:id="rId20"/>
      <p:boldItalic r:id="rId21"/>
    </p:embeddedFont>
    <p:embeddedFont>
      <p:font typeface="Inter SemiBold" panose="020B0604020202020204" charset="0"/>
      <p:regular r:id="rId22"/>
      <p:bold r:id="rId23"/>
      <p:italic r:id="rId24"/>
      <p:boldItalic r:id="rId25"/>
    </p:embeddedFont>
    <p:embeddedFont>
      <p:font typeface="Poppins" panose="00000500000000000000" pitchFamily="2" charset="0"/>
      <p:regular r:id="rId26"/>
      <p:bold r:id="rId27"/>
      <p:italic r:id="rId28"/>
      <p:boldItalic r:id="rId29"/>
    </p:embeddedFont>
    <p:embeddedFont>
      <p:font typeface="Poppins Medium" panose="00000600000000000000" pitchFamily="2" charset="0"/>
      <p:regular r:id="rId30"/>
      <p:bold r:id="rId31"/>
      <p:italic r:id="rId32"/>
      <p:boldItalic r:id="rId33"/>
    </p:embeddedFont>
    <p:embeddedFont>
      <p:font typeface="Poppins SemiBold" panose="00000700000000000000" pitchFamily="2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A420689-7505-438F-932B-000085F4ABB9}">
  <a:tblStyle styleId="{DA420689-7505-438F-932B-000085F4ABB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2650" y="10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9" Type="http://schemas.openxmlformats.org/officeDocument/2006/relationships/viewProps" Target="viewProps.xml"/><Relationship Id="rId21" Type="http://schemas.openxmlformats.org/officeDocument/2006/relationships/font" Target="fonts/font4.fntdata"/><Relationship Id="rId34" Type="http://schemas.openxmlformats.org/officeDocument/2006/relationships/font" Target="fonts/font1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openxmlformats.org/officeDocument/2006/relationships/font" Target="fonts/font20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font" Target="fonts/font19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font" Target="fonts/font1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font" Target="fonts/font16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110501" y="2591841"/>
            <a:ext cx="7970996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Rilevamento </a:t>
            </a:r>
            <a:r>
              <a:rPr lang="en-US" sz="48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dello</a:t>
            </a:r>
            <a:r>
              <a:rPr lang="en-US" sz="48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4800" b="0" i="0" u="none" strike="noStrike" cap="none" dirty="0">
                <a:solidFill>
                  <a:srgbClr val="38BDF8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Stress</a:t>
            </a:r>
            <a:endParaRPr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2300287" y="3452812"/>
            <a:ext cx="7591500" cy="111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Machine Learning con Dati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E4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Progetto di 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Interfacce</a:t>
            </a:r>
            <a:r>
              <a:rPr lang="en-US" sz="16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Uomo-</a:t>
            </a:r>
            <a:r>
              <a:rPr lang="en-US" sz="165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Macchina</a:t>
            </a:r>
            <a:endParaRPr sz="1650" b="0" i="0" u="none" strike="noStrike" cap="none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Gabriele Caretti Mat. 756564</a:t>
            </a:r>
            <a:endParaRPr sz="1650" dirty="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Obiettivi del Progetto</a:t>
            </a:r>
            <a:endParaRPr/>
          </a:p>
        </p:txBody>
      </p:sp>
      <p:pic>
        <p:nvPicPr>
          <p:cNvPr id="93" name="Google Shape;93;p14"/>
          <p:cNvPicPr preferRelativeResize="0"/>
          <p:nvPr/>
        </p:nvPicPr>
        <p:blipFill rotWithShape="1">
          <a:blip r:embed="rId4">
            <a:alphaModFix/>
          </a:blip>
          <a:srcRect l="8528" r="8519"/>
          <a:stretch/>
        </p:blipFill>
        <p:spPr>
          <a:xfrm>
            <a:off x="7781250" y="1205925"/>
            <a:ext cx="2928937" cy="393576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2051637"/>
            <a:ext cx="52863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Sviluppare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pipeline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elaborazione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distinguere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psicofisiologici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(Stress v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Riposo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95" name="Google Shape;95;p14"/>
          <p:cNvSpPr txBox="1"/>
          <p:nvPr/>
        </p:nvSpPr>
        <p:spPr>
          <a:xfrm>
            <a:off x="571500" y="2743093"/>
            <a:ext cx="5286375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basa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biometrici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acquisiti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tempo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reale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sensori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indossabili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multisensoriali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(Dataset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E4).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3891445"/>
            <a:ext cx="5286300" cy="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Vengono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impiegati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Machine Learning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addestrare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possibile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77516"/>
            <a:ext cx="5286375" cy="3255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77516"/>
            <a:ext cx="5286375" cy="3255466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962025" y="2668041"/>
            <a:ext cx="4730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Riferimento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2100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(Baseline)</a:t>
            </a:r>
            <a:endParaRPr dirty="0"/>
          </a:p>
        </p:txBody>
      </p:sp>
      <p:sp>
        <p:nvSpPr>
          <p:cNvPr id="105" name="Google Shape;105;p15"/>
          <p:cNvSpPr txBox="1"/>
          <p:nvPr/>
        </p:nvSpPr>
        <p:spPr>
          <a:xfrm>
            <a:off x="962025" y="3210966"/>
            <a:ext cx="45054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asato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sul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"A Method for Stress Detection Using </a:t>
            </a:r>
            <a:r>
              <a:rPr lang="en-US" sz="1350" b="0" i="1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Empatica</a:t>
            </a:r>
            <a:r>
              <a:rPr lang="en-US" sz="1350" b="0" i="1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E4"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(Campanella et al., 2023). 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Nel paper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viene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proposto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l’utilizzo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pipeline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solamente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due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(EDA e PPG). La loro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massima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dichiarata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76,5%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Random Forest).</a:t>
            </a:r>
            <a:endParaRPr dirty="0"/>
          </a:p>
        </p:txBody>
      </p:sp>
      <p:sp>
        <p:nvSpPr>
          <p:cNvPr id="107" name="Google Shape;107;p15"/>
          <p:cNvSpPr txBox="1"/>
          <p:nvPr/>
        </p:nvSpPr>
        <p:spPr>
          <a:xfrm>
            <a:off x="6724650" y="2668041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Limiti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6724650" y="3210966"/>
            <a:ext cx="45054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Il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paper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soffre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sbilanciamento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dataset (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stress rispetto 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riposo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09" name="Google Shape;109;p15"/>
          <p:cNvSpPr txBox="1"/>
          <p:nvPr/>
        </p:nvSpPr>
        <p:spPr>
          <a:xfrm>
            <a:off x="6724650" y="4162322"/>
            <a:ext cx="45054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Questo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può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essere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migliorato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l’estrazioni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features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utilizzando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lunghezze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diverse (come da 60 a 30 secondi)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Analisi del </a:t>
            </a: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Paper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800" y="2289875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100" y="2289876"/>
            <a:ext cx="3492550" cy="3840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866775" y="3442394"/>
            <a:ext cx="135016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BVP / PPG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866775" y="3985319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Pulsazione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 Volume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Sanguigno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(BVP) 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Fotopletismografia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(PPG) per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estrarre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variabilità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cardiaca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(HRV) e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picchi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sistolici</a:t>
            </a: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(64Hz).</a:t>
            </a:r>
            <a:endParaRPr dirty="0"/>
          </a:p>
        </p:txBody>
      </p:sp>
      <p:pic>
        <p:nvPicPr>
          <p:cNvPr id="122" name="Google Shape;12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4645074" y="3442394"/>
            <a:ext cx="14001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EDA / GSR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4645074" y="3985319"/>
            <a:ext cx="2901900" cy="18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 dell’a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ttività elettrodermica 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(EDA) nota anche come Risposta Galvanica Cutanea (GRS)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rilevare l'eccitazione del sistema nervoso simpatico (ricampionata da </a:t>
            </a:r>
            <a:r>
              <a:rPr lang="en-US" sz="135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r>
              <a:rPr lang="en-US" sz="1350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 64Hz).</a:t>
            </a:r>
            <a:endParaRPr/>
          </a:p>
        </p:txBody>
      </p:sp>
      <p:pic>
        <p:nvPicPr>
          <p:cNvPr id="125" name="Google Shape;125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585144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8423374" y="3442394"/>
            <a:ext cx="171021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TEMP &amp; ACC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8423375" y="3985326"/>
            <a:ext cx="2901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Monitoraggio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temperatura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movimenti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accelerometro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arricchire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le feature.</a:t>
            </a:r>
            <a:endParaRPr dirty="0"/>
          </a:p>
        </p:txBody>
      </p:sp>
      <p:pic>
        <p:nvPicPr>
          <p:cNvPr id="128" name="Google Shape;128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09650" y="2728019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811762" y="2728019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37686" y="2728019"/>
            <a:ext cx="2381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Il Dataset (Empatica E4)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/>
          <p:nvPr/>
        </p:nvSpPr>
        <p:spPr>
          <a:xfrm>
            <a:off x="571500" y="4124325"/>
            <a:ext cx="1104900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 txBox="1"/>
          <p:nvPr/>
        </p:nvSpPr>
        <p:spPr>
          <a:xfrm>
            <a:off x="571500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1° Task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Lego libero</a:t>
            </a:r>
            <a:endParaRPr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571500" y="4886325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10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pezzi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Lego 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lieve</a:t>
            </a: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stress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cognitivo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0" name="Google Shape;140;p17"/>
          <p:cNvSpPr txBox="1"/>
          <p:nvPr/>
        </p:nvSpPr>
        <p:spPr>
          <a:xfrm>
            <a:off x="3370510" y="2769989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2° Task:</a:t>
            </a:r>
            <a:r>
              <a:rPr lang="en-US" sz="1650" b="0" i="0" u="none" strike="noStrike" cap="none" dirty="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Lego </a:t>
            </a:r>
            <a:r>
              <a:rPr lang="en-US" sz="1650" b="0" i="0" u="none" strike="noStrike" cap="none" dirty="0" err="1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Guidato</a:t>
            </a:r>
            <a:endParaRPr dirty="0"/>
          </a:p>
        </p:txBody>
      </p:sp>
      <p:sp>
        <p:nvSpPr>
          <p:cNvPr id="141" name="Google Shape;141;p17"/>
          <p:cNvSpPr txBox="1"/>
          <p:nvPr/>
        </p:nvSpPr>
        <p:spPr>
          <a:xfrm>
            <a:off x="3370510" y="3227189"/>
            <a:ext cx="2651700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5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minuti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200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ssemblaggio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Lego con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istruzioni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Pressione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2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temporale</a:t>
            </a: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6169521" y="4429125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3° e 4° Task</a:t>
            </a:r>
            <a:r>
              <a:rPr lang="en-US" sz="1650" b="0" i="0" u="none" strike="noStrike" cap="none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Matematica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6169521" y="4886325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Calcoli matematici 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senza limiti di tempo (Stress mentale elevato).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8968531" y="2769989"/>
            <a:ext cx="27843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5° Task</a:t>
            </a:r>
            <a:r>
              <a:rPr lang="en-US" sz="1650" b="0" i="0" u="none" strike="noStrike" cap="none">
                <a:solidFill>
                  <a:srgbClr val="F8FAFC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: Esposizione CV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8968531" y="3227189"/>
            <a:ext cx="26517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 min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uto di p</a:t>
            </a:r>
            <a:r>
              <a:rPr lang="en-US" sz="12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resentazione orale del curriculum (Stress sociale).</a:t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178303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4582045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738105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10180066" y="402907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38100" cap="flat" cmpd="sng">
            <a:solidFill>
              <a:srgbClr val="38BD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Protocollo Sperimentale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8"/>
          <p:cNvSpPr txBox="1"/>
          <p:nvPr/>
        </p:nvSpPr>
        <p:spPr>
          <a:xfrm>
            <a:off x="1809750" y="2362200"/>
            <a:ext cx="90487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r>
              <a:rPr lang="en-US" sz="1500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) 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Preprocessing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Segnali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Filtraggio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disturbi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rimozione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degli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artefatti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allineamento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frequenze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7" name="Google Shape;157;p18"/>
          <p:cNvSpPr txBox="1"/>
          <p:nvPr/>
        </p:nvSpPr>
        <p:spPr>
          <a:xfrm>
            <a:off x="1809750" y="2905125"/>
            <a:ext cx="90489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2)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Segmentazion</a:t>
            </a:r>
            <a:r>
              <a:rPr lang="en-US" sz="1500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Divisione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temporali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 60 secondi con overlapping di 30 (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nella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dell’algoritmo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“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sicuro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/safe”, non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viene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effetturato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l’overlapping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evitare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Data Leak con K-Fold,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viene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effettuato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comunque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nella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anche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LOSO, con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mitigazioni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evitare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Data Leak e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altri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miglioramenti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8" name="Google Shape;158;p18"/>
          <p:cNvSpPr txBox="1"/>
          <p:nvPr/>
        </p:nvSpPr>
        <p:spPr>
          <a:xfrm>
            <a:off x="1809600" y="4457700"/>
            <a:ext cx="904875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</a:t>
            </a:r>
            <a:r>
              <a:rPr lang="en-US" sz="1500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)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lang="en-US" sz="1500" b="0" i="0" u="none" strike="noStrike" cap="none" dirty="0" err="1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Estrazione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Feature: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Calcolo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parametri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statistici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temporali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analisi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picchi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ciascuna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finestra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9" name="Google Shape;159;p18"/>
          <p:cNvSpPr txBox="1"/>
          <p:nvPr/>
        </p:nvSpPr>
        <p:spPr>
          <a:xfrm>
            <a:off x="1809600" y="5305425"/>
            <a:ext cx="90489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4) Machine Learning:</a:t>
            </a:r>
            <a:r>
              <a:rPr lang="en-US" sz="1500" b="0" i="0" u="none" strike="noStrike" cap="none" dirty="0">
                <a:solidFill>
                  <a:schemeClr val="bg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Addestramento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validazione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50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10-Fold Cross-Validation,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bilanciamento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50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r>
              <a:rPr lang="en-US" sz="150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 vs Rest).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60" name="Google Shape;16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33500" y="2395537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33500" y="2938462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33350" y="4491037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333350" y="5338762"/>
            <a:ext cx="333375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Pipeline di Elaborazione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85713" y="591915"/>
            <a:ext cx="5452249" cy="258644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571500" y="2095500"/>
            <a:ext cx="5286375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BVP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Fotopletismografia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571425" y="3910860"/>
            <a:ext cx="5286375" cy="249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EDA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Attività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Elettrodermica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endParaRPr dirty="0">
              <a:solidFill>
                <a:schemeClr val="bg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74" name="Google Shape;174;p19"/>
          <p:cNvSpPr txBox="1"/>
          <p:nvPr/>
        </p:nvSpPr>
        <p:spPr>
          <a:xfrm>
            <a:off x="952500" y="2482785"/>
            <a:ext cx="4914900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Filtraggio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Passa-Banda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(range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0.5 - 5 Hz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Butterworth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4°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ordine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isolare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la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pulsazione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arteriosa. 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lcolo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della prima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seconda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derivate del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lang="en-US" sz="1350" b="0" i="0" u="none" strike="noStrike" cap="none" dirty="0">
              <a:solidFill>
                <a:schemeClr val="bg1">
                  <a:lumMod val="85000"/>
                </a:schemeClr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952500" y="4198441"/>
            <a:ext cx="49053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525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Passa-Basso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rimuovere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rumore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ad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alta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frequenza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Estrazione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della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componente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Tonica (lenta) 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Fasica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rapida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contare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 Picchi (Skin Conductance Responses).</a:t>
            </a:r>
          </a:p>
        </p:txBody>
      </p:sp>
      <p:sp>
        <p:nvSpPr>
          <p:cNvPr id="182" name="Google Shape;182;p19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Preprocessing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Segnali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81649526-8FBF-F96B-D12C-018A74A1B2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020" y="677342"/>
            <a:ext cx="5355942" cy="241559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AA48C4B3-FAD5-DCA2-2DD8-890A05DA5C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490" y="3506208"/>
            <a:ext cx="5369534" cy="2386460"/>
          </a:xfrm>
          <a:prstGeom prst="rect">
            <a:avLst/>
          </a:prstGeom>
        </p:spPr>
      </p:pic>
      <p:pic>
        <p:nvPicPr>
          <p:cNvPr id="6" name="Google Shape;170;p19" descr="image.png">
            <a:extLst>
              <a:ext uri="{FF2B5EF4-FFF2-40B4-BE49-F238E27FC236}">
                <a16:creationId xmlns:a16="http://schemas.microsoft.com/office/drawing/2014/main" id="{EA2D10FB-101C-177B-A6FA-8C6A6FC0B08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98775" y="3427594"/>
            <a:ext cx="5452249" cy="2586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52650"/>
            <a:ext cx="3492549" cy="3804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152650"/>
            <a:ext cx="3492549" cy="3804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152650"/>
            <a:ext cx="3492549" cy="3804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66775" y="24479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20"/>
          <p:cNvSpPr txBox="1"/>
          <p:nvPr/>
        </p:nvSpPr>
        <p:spPr>
          <a:xfrm>
            <a:off x="866775" y="3305175"/>
            <a:ext cx="17502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Overlapping</a:t>
            </a:r>
            <a:endParaRPr dirty="0"/>
          </a:p>
        </p:txBody>
      </p:sp>
      <p:sp>
        <p:nvSpPr>
          <p:cNvPr id="193" name="Google Shape;193;p20"/>
          <p:cNvSpPr txBox="1"/>
          <p:nvPr/>
        </p:nvSpPr>
        <p:spPr>
          <a:xfrm>
            <a:off x="866775" y="3848100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Introdotto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uno step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 30 secondi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sulle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finestre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60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raddoppiare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il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numero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campioni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rilevare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eventuali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passaggi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stato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(solo in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main ed exp, e senza data leakage in exp con LOSO)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94" name="Google Shape;194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5074" y="24479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0"/>
          <p:cNvSpPr txBox="1"/>
          <p:nvPr/>
        </p:nvSpPr>
        <p:spPr>
          <a:xfrm>
            <a:off x="4645074" y="3305175"/>
            <a:ext cx="1950243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Sensor Fusion</a:t>
            </a:r>
            <a:endParaRPr dirty="0"/>
          </a:p>
        </p:txBody>
      </p:sp>
      <p:sp>
        <p:nvSpPr>
          <p:cNvPr id="196" name="Google Shape;196;p20"/>
          <p:cNvSpPr txBox="1"/>
          <p:nvPr/>
        </p:nvSpPr>
        <p:spPr>
          <a:xfrm>
            <a:off x="4645075" y="3848100"/>
            <a:ext cx="29019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Inclusione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delle derivate BVP,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Temperatura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superficiale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/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periferica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filtrata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mediamente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accelerometro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movimenti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97" name="Google Shape;197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3374" y="24479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0"/>
          <p:cNvSpPr txBox="1"/>
          <p:nvPr/>
        </p:nvSpPr>
        <p:spPr>
          <a:xfrm>
            <a:off x="8275761" y="3267417"/>
            <a:ext cx="3197126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RUSBoost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e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GentleBoost</a:t>
            </a:r>
            <a:endParaRPr dirty="0"/>
          </a:p>
        </p:txBody>
      </p:sp>
      <p:sp>
        <p:nvSpPr>
          <p:cNvPr id="199" name="Google Shape;199;p20"/>
          <p:cNvSpPr txBox="1"/>
          <p:nvPr/>
        </p:nvSpPr>
        <p:spPr>
          <a:xfrm>
            <a:off x="8423374" y="3848100"/>
            <a:ext cx="2901900" cy="1994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mitigare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lo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sbilanciamento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 dataset, è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stato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utilizzato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l'algoritmo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nell’Ensemble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Random Forest e K-Fold,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mentre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LOSO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00" name="Google Shape;200;p20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85837" y="2590800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87949" y="259080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518624" y="2590800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0"/>
          <p:cNvSpPr txBox="1"/>
          <p:nvPr/>
        </p:nvSpPr>
        <p:spPr>
          <a:xfrm>
            <a:off x="571500" y="571500"/>
            <a:ext cx="11049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Miglioramenti</a:t>
            </a:r>
            <a:r>
              <a:rPr lang="en-US" sz="3000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rispetto al Paper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9" name="Google Shape;209;p21"/>
          <p:cNvGraphicFramePr/>
          <p:nvPr>
            <p:extLst>
              <p:ext uri="{D42A27DB-BD31-4B8C-83A1-F6EECF244321}">
                <p14:modId xmlns:p14="http://schemas.microsoft.com/office/powerpoint/2010/main" val="4070067608"/>
              </p:ext>
            </p:extLst>
          </p:nvPr>
        </p:nvGraphicFramePr>
        <p:xfrm>
          <a:off x="571500" y="1896516"/>
          <a:ext cx="11049000" cy="4017500"/>
        </p:xfrm>
        <a:graphic>
          <a:graphicData uri="http://schemas.openxmlformats.org/drawingml/2006/table">
            <a:tbl>
              <a:tblPr firstRow="1" bandRow="1">
                <a:noFill/>
                <a:tableStyleId>{DA420689-7505-438F-932B-000085F4ABB9}</a:tableStyleId>
              </a:tblPr>
              <a:tblGrid>
                <a:gridCol w="1978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48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err="1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Segnale</a:t>
                      </a:r>
                      <a:r>
                        <a:rPr lang="en-US" sz="1500" b="0" dirty="0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/</a:t>
                      </a:r>
                      <a:r>
                        <a:rPr lang="en-US" sz="1500" b="0" i="0" u="none" strike="noStrike" cap="none" dirty="0" err="1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Sensore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Dominio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38BDF8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Feature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BVP / PPG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Statistico</a:t>
                      </a:r>
                      <a:r>
                        <a:rPr lang="en-US" sz="135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Tempo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Media/</a:t>
                      </a:r>
                      <a:r>
                        <a:rPr lang="en-US" sz="135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PPI, Mean HR, </a:t>
                      </a:r>
                      <a:r>
                        <a:rPr lang="en-US" sz="135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 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HR, RMSSD, SD2, Derivate (d1, d2)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EDA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Statistico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Eventi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350" b="0" i="0" u="none" strike="noStrike" cap="none"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Numero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di Picchi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Fasici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(SCR),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Ampiezza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Media SCR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Temperatura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Statistico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termica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Coefficiente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Angolare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(Slope) del trend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35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Accelerometro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Cinematico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/Moto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Media della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Magnitudo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3D,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Deviazione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Standard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dei</a:t>
                      </a:r>
                      <a:r>
                        <a:rPr lang="en-US" sz="1350" b="0" i="0" u="none" strike="noStrike" cap="none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en-US" sz="1350" b="0" i="0" u="none" strike="noStrike" cap="none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movimenti</a:t>
                      </a:r>
                      <a:endParaRPr dirty="0">
                        <a:solidFill>
                          <a:schemeClr val="bg2">
                            <a:lumMod val="20000"/>
                            <a:lumOff val="80000"/>
                          </a:schemeClr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0" name="Google Shape;210;p21"/>
          <p:cNvSpPr/>
          <p:nvPr/>
        </p:nvSpPr>
        <p:spPr>
          <a:xfrm>
            <a:off x="571500" y="2839491"/>
            <a:ext cx="1978372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2549872" y="2839491"/>
            <a:ext cx="2322462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4872335" y="2839491"/>
            <a:ext cx="6748164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571500" y="3674278"/>
            <a:ext cx="19783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2549872" y="3674278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4872335" y="3674278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71500" y="4518590"/>
            <a:ext cx="19785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2549872" y="4518590"/>
            <a:ext cx="2322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4872335" y="4518590"/>
            <a:ext cx="67482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571500" y="5282505"/>
            <a:ext cx="197837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/>
          <p:nvPr/>
        </p:nvSpPr>
        <p:spPr>
          <a:xfrm>
            <a:off x="2549872" y="5282505"/>
            <a:ext cx="232246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4872335" y="5282505"/>
            <a:ext cx="674816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Estrazione delle Feature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623244"/>
            <a:ext cx="5286375" cy="2654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623244"/>
            <a:ext cx="5286375" cy="256401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2"/>
          <p:cNvSpPr txBox="1"/>
          <p:nvPr/>
        </p:nvSpPr>
        <p:spPr>
          <a:xfrm>
            <a:off x="806768" y="3013768"/>
            <a:ext cx="4955857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RUSBoost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(Ensemble) e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GentleBoost</a:t>
            </a:r>
            <a:endParaRPr dirty="0"/>
          </a:p>
        </p:txBody>
      </p:sp>
      <p:sp>
        <p:nvSpPr>
          <p:cNvPr id="231" name="Google Shape;231;p22"/>
          <p:cNvSpPr txBox="1"/>
          <p:nvPr/>
        </p:nvSpPr>
        <p:spPr>
          <a:xfrm>
            <a:off x="806767" y="3524671"/>
            <a:ext cx="4875576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asato su un grande numero di alberi decisionali. Implementato utilizzando </a:t>
            </a:r>
            <a:r>
              <a:rPr lang="it-IT" sz="1350" b="1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100 cicli di apprendimento per gestire </a:t>
            </a:r>
            <a:r>
              <a:rPr lang="it-IT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lo sbilanciamento 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 le etichette di riposo e stress (e anche LOSO con </a:t>
            </a:r>
            <a:r>
              <a:rPr lang="it-IT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it-IT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lang="it-IT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32" name="Google Shape;232;p22"/>
          <p:cNvSpPr txBox="1"/>
          <p:nvPr/>
        </p:nvSpPr>
        <p:spPr>
          <a:xfrm>
            <a:off x="6724650" y="3013769"/>
            <a:ext cx="4730591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Support Vector Machine (SVM)</a:t>
            </a:r>
            <a:endParaRPr dirty="0"/>
          </a:p>
        </p:txBody>
      </p:sp>
      <p:sp>
        <p:nvSpPr>
          <p:cNvPr id="233" name="Google Shape;233;p22"/>
          <p:cNvSpPr txBox="1"/>
          <p:nvPr/>
        </p:nvSpPr>
        <p:spPr>
          <a:xfrm>
            <a:off x="6724650" y="3556700"/>
            <a:ext cx="45054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Implementazione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Kernel RBF (Radial Basis Function) 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BoxConstraint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pari a 10. SVM è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tipo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trasformazione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molto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efficace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per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segnali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fisiologici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34" name="Google Shape;234;p22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Modelli di Classificazione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3"/>
          <p:cNvSpPr txBox="1"/>
          <p:nvPr/>
        </p:nvSpPr>
        <p:spPr>
          <a:xfrm>
            <a:off x="523875" y="1309882"/>
            <a:ext cx="5286375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 dirty="0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78.8%</a:t>
            </a:r>
            <a:endParaRPr dirty="0"/>
          </a:p>
        </p:txBody>
      </p:sp>
      <p:sp>
        <p:nvSpPr>
          <p:cNvPr id="241" name="Google Shape;241;p23"/>
          <p:cNvSpPr txBox="1"/>
          <p:nvPr/>
        </p:nvSpPr>
        <p:spPr>
          <a:xfrm>
            <a:off x="571500" y="2697276"/>
            <a:ext cx="528637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6201890" y="1222400"/>
            <a:ext cx="555069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Performance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dell'Ensemble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RUSBoost</a:t>
            </a:r>
            <a:endParaRPr dirty="0"/>
          </a:p>
        </p:txBody>
      </p:sp>
      <p:sp>
        <p:nvSpPr>
          <p:cNvPr id="243" name="Google Shape;243;p23"/>
          <p:cNvSpPr txBox="1"/>
          <p:nvPr/>
        </p:nvSpPr>
        <p:spPr>
          <a:xfrm>
            <a:off x="6201965" y="1604665"/>
            <a:ext cx="5286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il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risultato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globale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ha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raggiunto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superato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quello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 paper (baseline)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4" name="Google Shape;244;p23"/>
          <p:cNvSpPr txBox="1"/>
          <p:nvPr/>
        </p:nvSpPr>
        <p:spPr>
          <a:xfrm>
            <a:off x="6201890" y="2323327"/>
            <a:ext cx="5286375" cy="747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84.8%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Sensibilità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81.9%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83.3%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5" name="Google Shape;245;p23"/>
          <p:cNvSpPr txBox="1"/>
          <p:nvPr/>
        </p:nvSpPr>
        <p:spPr>
          <a:xfrm>
            <a:off x="6201965" y="3125089"/>
            <a:ext cx="52863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soffre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</a:t>
            </a:r>
            <a:r>
              <a:rPr lang="en-US" sz="1350" b="0" i="1" u="none" strike="noStrike" cap="none" dirty="0">
                <a:solidFill>
                  <a:schemeClr val="accent2">
                    <a:lumMod val="60000"/>
                    <a:lumOff val="4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DATA LEAKAGE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! La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variante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sicura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senza leakage ha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 70%.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6" name="Google Shape;246;p23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Risultati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:</a:t>
            </a:r>
            <a:r>
              <a:rPr lang="en-US" sz="3000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RF </a:t>
            </a:r>
            <a:r>
              <a:rPr lang="en-US" sz="3000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RUSBoost</a:t>
            </a:r>
            <a:r>
              <a:rPr lang="en-US" sz="3000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 RF </a:t>
            </a:r>
            <a:r>
              <a:rPr lang="en-US" sz="3000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GentleBoost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" name="Google Shape;240;p23">
            <a:extLst>
              <a:ext uri="{FF2B5EF4-FFF2-40B4-BE49-F238E27FC236}">
                <a16:creationId xmlns:a16="http://schemas.microsoft.com/office/drawing/2014/main" id="{90807F2A-9490-291D-40DE-FEBF1C7779FD}"/>
              </a:ext>
            </a:extLst>
          </p:cNvPr>
          <p:cNvSpPr txBox="1"/>
          <p:nvPr/>
        </p:nvSpPr>
        <p:spPr>
          <a:xfrm>
            <a:off x="523875" y="4290805"/>
            <a:ext cx="5286375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 dirty="0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70.8%</a:t>
            </a:r>
            <a:endParaRPr dirty="0"/>
          </a:p>
        </p:txBody>
      </p:sp>
      <p:sp>
        <p:nvSpPr>
          <p:cNvPr id="3" name="Google Shape;241;p23">
            <a:extLst>
              <a:ext uri="{FF2B5EF4-FFF2-40B4-BE49-F238E27FC236}">
                <a16:creationId xmlns:a16="http://schemas.microsoft.com/office/drawing/2014/main" id="{AEA90460-57D8-D9C5-6C3C-6D0C6B9BF7F8}"/>
              </a:ext>
            </a:extLst>
          </p:cNvPr>
          <p:cNvSpPr txBox="1"/>
          <p:nvPr/>
        </p:nvSpPr>
        <p:spPr>
          <a:xfrm>
            <a:off x="571500" y="5678199"/>
            <a:ext cx="528637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4" name="Google Shape;242;p23">
            <a:extLst>
              <a:ext uri="{FF2B5EF4-FFF2-40B4-BE49-F238E27FC236}">
                <a16:creationId xmlns:a16="http://schemas.microsoft.com/office/drawing/2014/main" id="{3F3C09EF-72D2-BAD9-9474-604CA3CB186C}"/>
              </a:ext>
            </a:extLst>
          </p:cNvPr>
          <p:cNvSpPr txBox="1"/>
          <p:nvPr/>
        </p:nvSpPr>
        <p:spPr>
          <a:xfrm>
            <a:off x="6201890" y="4203323"/>
            <a:ext cx="555069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Performance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GentleBoost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con LOSO</a:t>
            </a:r>
            <a:endParaRPr dirty="0"/>
          </a:p>
        </p:txBody>
      </p:sp>
      <p:sp>
        <p:nvSpPr>
          <p:cNvPr id="5" name="Google Shape;243;p23">
            <a:extLst>
              <a:ext uri="{FF2B5EF4-FFF2-40B4-BE49-F238E27FC236}">
                <a16:creationId xmlns:a16="http://schemas.microsoft.com/office/drawing/2014/main" id="{4D28F712-FAEF-E2C4-06C6-7A37486AE986}"/>
              </a:ext>
            </a:extLst>
          </p:cNvPr>
          <p:cNvSpPr txBox="1"/>
          <p:nvPr/>
        </p:nvSpPr>
        <p:spPr>
          <a:xfrm>
            <a:off x="6201965" y="4585588"/>
            <a:ext cx="5286300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Tramite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il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risultato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avvicina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al paper (baseline)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Google Shape;244;p23">
            <a:extLst>
              <a:ext uri="{FF2B5EF4-FFF2-40B4-BE49-F238E27FC236}">
                <a16:creationId xmlns:a16="http://schemas.microsoft.com/office/drawing/2014/main" id="{B2383452-624F-8D4B-7A84-7FE5859342AA}"/>
              </a:ext>
            </a:extLst>
          </p:cNvPr>
          <p:cNvSpPr txBox="1"/>
          <p:nvPr/>
        </p:nvSpPr>
        <p:spPr>
          <a:xfrm>
            <a:off x="6201890" y="4982672"/>
            <a:ext cx="5286375" cy="747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79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Sensibilità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81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80%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"/>
          <p:cNvSpPr txBox="1"/>
          <p:nvPr/>
        </p:nvSpPr>
        <p:spPr>
          <a:xfrm>
            <a:off x="571500" y="2246503"/>
            <a:ext cx="5286375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 dirty="0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80.1%</a:t>
            </a:r>
            <a:endParaRPr dirty="0"/>
          </a:p>
        </p:txBody>
      </p:sp>
      <p:sp>
        <p:nvSpPr>
          <p:cNvPr id="253" name="Google Shape;253;p24"/>
          <p:cNvSpPr txBox="1"/>
          <p:nvPr/>
        </p:nvSpPr>
        <p:spPr>
          <a:xfrm>
            <a:off x="571500" y="3675253"/>
            <a:ext cx="5286375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bg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ACCURATEZZA GLOBALE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6334125" y="2246503"/>
            <a:ext cx="555069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Il </a:t>
            </a:r>
            <a:r>
              <a:rPr lang="en-US" sz="2100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odello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Migliore (in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questo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2100" b="0" i="0" u="none" strike="noStrike" cap="none" dirty="0" err="1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contesto</a:t>
            </a:r>
            <a:r>
              <a:rPr lang="en-US" sz="2100" b="0" i="0" u="none" strike="noStrike" cap="none" dirty="0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)</a:t>
            </a:r>
            <a:endParaRPr dirty="0"/>
          </a:p>
        </p:txBody>
      </p:sp>
      <p:sp>
        <p:nvSpPr>
          <p:cNvPr id="255" name="Google Shape;255;p24"/>
          <p:cNvSpPr txBox="1"/>
          <p:nvPr/>
        </p:nvSpPr>
        <p:spPr>
          <a:xfrm>
            <a:off x="6334113" y="2682513"/>
            <a:ext cx="5286300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L'algoritmo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SVM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mappato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Kernel RBF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riconosce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meglio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pattern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complessi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rispetto a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(ha un Recall dell’86,6% rispetto all’81.9%),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ha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una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minore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sullo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Stress (83,4%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contro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84,8%)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Infine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l’accuratezza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globale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è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mediamente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più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alta.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56" name="Google Shape;256;p24"/>
          <p:cNvSpPr txBox="1"/>
          <p:nvPr/>
        </p:nvSpPr>
        <p:spPr>
          <a:xfrm>
            <a:off x="6334113" y="4457352"/>
            <a:ext cx="5286300" cy="747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Precisione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(Stress):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83.4%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Recall (</a:t>
            </a:r>
            <a:r>
              <a:rPr lang="en-US" sz="1350" b="1" i="0" u="none" strike="noStrike" cap="none" dirty="0" err="1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Sensibilità</a:t>
            </a: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):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86.6%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F1-Score:</a:t>
            </a:r>
            <a:r>
              <a:rPr lang="en-US" sz="1350" b="0" i="0" u="none" strike="noStrike" cap="none" dirty="0">
                <a:solidFill>
                  <a:schemeClr val="bg2">
                    <a:lumMod val="20000"/>
                    <a:lumOff val="8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85.0%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57" name="Google Shape;257;p24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Risultati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: SVM (RBF Kernel)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5" name="Google Shape;245;p23">
            <a:extLst>
              <a:ext uri="{FF2B5EF4-FFF2-40B4-BE49-F238E27FC236}">
                <a16:creationId xmlns:a16="http://schemas.microsoft.com/office/drawing/2014/main" id="{EC89CE9A-880C-EF8B-D470-2EC353755939}"/>
              </a:ext>
            </a:extLst>
          </p:cNvPr>
          <p:cNvSpPr txBox="1"/>
          <p:nvPr/>
        </p:nvSpPr>
        <p:spPr>
          <a:xfrm>
            <a:off x="571575" y="4196700"/>
            <a:ext cx="52863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Tuttavia, soffre di </a:t>
            </a:r>
            <a:r>
              <a:rPr lang="it-IT" sz="1350" b="0" i="1" u="none" strike="noStrike" cap="none" dirty="0">
                <a:solidFill>
                  <a:schemeClr val="accent2">
                    <a:lumMod val="60000"/>
                    <a:lumOff val="4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DATA LEAKAGE</a:t>
            </a:r>
            <a:r>
              <a:rPr lang="it-IT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! La variante sicura senza leakage ha accuratezza del 67%, in tal caso la variante con </a:t>
            </a:r>
            <a:r>
              <a:rPr lang="it-IT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it-IT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LOSO diventa la migliore.</a:t>
            </a:r>
            <a:endParaRPr lang="it-IT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5"/>
          <p:cNvSpPr txBox="1"/>
          <p:nvPr/>
        </p:nvSpPr>
        <p:spPr>
          <a:xfrm>
            <a:off x="571500" y="5346972"/>
            <a:ext cx="11049000" cy="997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Come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dimostrato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le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migliorie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apportate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nelle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fasi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di preprocessing e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estrazione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delle feature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hanno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permesso</a:t>
            </a:r>
            <a:r>
              <a:rPr lang="en-US" sz="1350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un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incremento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su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tutti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modelli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valutati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rispetto al paper di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riferimento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. (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Anche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se la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Migliore senza Data leakage, non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mostrata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con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e LOSO, </a:t>
            </a:r>
            <a:r>
              <a:rPr lang="en-US" sz="1350" b="0" i="0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raggiunge</a:t>
            </a:r>
            <a:r>
              <a:rPr lang="en-US" sz="1350" b="0" i="0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circa </a:t>
            </a:r>
            <a:r>
              <a:rPr lang="en-US" sz="1350" b="0" i="0" u="none" strike="noStrike" cap="none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il 70,8%)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64" name="Google Shape;264;p25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Confronto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dei</a:t>
            </a:r>
            <a:r>
              <a:rPr lang="en-US" sz="3000" b="0" i="0" u="none" strike="noStrike" cap="none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</a:t>
            </a:r>
            <a:r>
              <a:rPr lang="en-US" sz="3000" b="0" i="0" u="none" strike="noStrike" cap="none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Modelli</a:t>
            </a:r>
            <a:endParaRPr dirty="0"/>
          </a:p>
        </p:txBody>
      </p:sp>
      <p:pic>
        <p:nvPicPr>
          <p:cNvPr id="265" name="Google Shape;265;p25" title="graph.png"/>
          <p:cNvPicPr preferRelativeResize="0"/>
          <p:nvPr/>
        </p:nvPicPr>
        <p:blipFill rotWithShape="1">
          <a:blip r:embed="rId4">
            <a:alphaModFix/>
          </a:blip>
          <a:srcRect t="1886" b="1886"/>
          <a:stretch/>
        </p:blipFill>
        <p:spPr>
          <a:xfrm>
            <a:off x="2559200" y="1317575"/>
            <a:ext cx="7659425" cy="37450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6"/>
          <p:cNvSpPr txBox="1"/>
          <p:nvPr/>
        </p:nvSpPr>
        <p:spPr>
          <a:xfrm>
            <a:off x="1971600" y="1714500"/>
            <a:ext cx="8248800" cy="3393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Tramite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l’integrazione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più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segnali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come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temperatura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e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movimento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è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stato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possibile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raggiungere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un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risultato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migliore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del paper di </a:t>
            </a:r>
            <a:r>
              <a:rPr lang="en-US" sz="3150" dirty="0" err="1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riferimento</a:t>
            </a:r>
            <a:r>
              <a:rPr lang="en-US" sz="3150" dirty="0">
                <a:solidFill>
                  <a:schemeClr val="bg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 del 3,6%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72" name="Google Shape;272;p26"/>
          <p:cNvSpPr txBox="1"/>
          <p:nvPr/>
        </p:nvSpPr>
        <p:spPr>
          <a:xfrm>
            <a:off x="6278550" y="5218208"/>
            <a:ext cx="5124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— </a:t>
            </a:r>
            <a:r>
              <a:rPr lang="en-US" sz="1800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G.C. 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Interfacce</a:t>
            </a:r>
            <a:r>
              <a:rPr lang="en-US" sz="1800" b="0" i="0" u="none" strike="noStrike" cap="none" dirty="0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Uomo-</a:t>
            </a:r>
            <a:r>
              <a:rPr lang="en-US" sz="1800" b="0" i="0" u="none" strike="noStrike" cap="none" dirty="0" err="1">
                <a:solidFill>
                  <a:srgbClr val="00B0F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Macchina</a:t>
            </a:r>
            <a:endParaRPr dirty="0">
              <a:solidFill>
                <a:srgbClr val="00B0F0"/>
              </a:solidFill>
            </a:endParaRPr>
          </a:p>
        </p:txBody>
      </p:sp>
      <p:sp>
        <p:nvSpPr>
          <p:cNvPr id="273" name="Google Shape;273;p26"/>
          <p:cNvSpPr txBox="1"/>
          <p:nvPr/>
        </p:nvSpPr>
        <p:spPr>
          <a:xfrm>
            <a:off x="1304925" y="2277516"/>
            <a:ext cx="371475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4" name="Google Shape;274;p26"/>
          <p:cNvSpPr txBox="1"/>
          <p:nvPr/>
        </p:nvSpPr>
        <p:spPr>
          <a:xfrm>
            <a:off x="10515600" y="5447255"/>
            <a:ext cx="371475" cy="1410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0" i="0" u="none" strike="noStrike" cap="none">
                <a:solidFill>
                  <a:srgbClr val="38BDF8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"</a:t>
            </a:r>
            <a:endParaRPr/>
          </a:p>
        </p:txBody>
      </p:sp>
      <p:sp>
        <p:nvSpPr>
          <p:cNvPr id="275" name="Google Shape;275;p26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Conclusioni</a:t>
            </a:r>
            <a:r>
              <a:rPr lang="en-US" sz="3000" b="0" i="0" u="none" strike="noStrike" cap="none" dirty="0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 </a:t>
            </a:r>
            <a:r>
              <a:rPr lang="en-US" sz="3000" b="0" i="0" u="none" strike="noStrike" cap="none" dirty="0" err="1">
                <a:solidFill>
                  <a:schemeClr val="bg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Sviluppi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Google Shape;245;p23">
            <a:extLst>
              <a:ext uri="{FF2B5EF4-FFF2-40B4-BE49-F238E27FC236}">
                <a16:creationId xmlns:a16="http://schemas.microsoft.com/office/drawing/2014/main" id="{8C45CFFC-F599-2638-D0FE-AA7708CB3232}"/>
              </a:ext>
            </a:extLst>
          </p:cNvPr>
          <p:cNvSpPr txBox="1"/>
          <p:nvPr/>
        </p:nvSpPr>
        <p:spPr>
          <a:xfrm>
            <a:off x="278651" y="6352088"/>
            <a:ext cx="10608423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, la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variante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con LOSO, senza Data Leakage,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si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avvicina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ma non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raggiunge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1" u="none" strike="noStrike" cap="none" dirty="0" err="1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ancora</a:t>
            </a:r>
            <a:r>
              <a:rPr lang="en-US" sz="1350" b="0" i="1" u="none" strike="noStrike" cap="none" dirty="0">
                <a:solidFill>
                  <a:schemeClr val="bg1">
                    <a:lumMod val="85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il paper di circa il 6,5%.</a:t>
            </a:r>
            <a:endParaRPr dirty="0">
              <a:solidFill>
                <a:schemeClr val="bg1">
                  <a:lumMod val="8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7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Altro – </a:t>
            </a:r>
            <a:r>
              <a:rPr lang="en-US" sz="3000" dirty="0" err="1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Esperimenti</a:t>
            </a:r>
            <a:r>
              <a:rPr lang="en-US" sz="3000" dirty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e screenshots</a:t>
            </a:r>
            <a:endParaRPr dirty="0"/>
          </a:p>
        </p:txBody>
      </p:sp>
      <p:sp>
        <p:nvSpPr>
          <p:cNvPr id="282" name="Google Shape;282;p27"/>
          <p:cNvSpPr txBox="1"/>
          <p:nvPr/>
        </p:nvSpPr>
        <p:spPr>
          <a:xfrm>
            <a:off x="571500" y="1350200"/>
            <a:ext cx="4287883" cy="2659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 err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Utilizzo</a:t>
            </a:r>
            <a:r>
              <a:rPr lang="en-US" sz="135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di HR e IBI</a:t>
            </a:r>
            <a:endParaRPr sz="1350" b="1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Sono state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sperimentate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delle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implementazioni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l’ausilio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valori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misurati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HR (senza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derivarli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differentemente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dal paper) e IBI,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tuttavia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risultati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finali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erano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nettamente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inferiori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rispetto a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quelli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mostrati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in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precedenza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(Circa il 64% di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accuratezza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).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Risultati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simili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rispettando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filtri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quindi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ne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sono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adottati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altri</a:t>
            </a:r>
            <a:r>
              <a:rPr lang="en-US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350" dirty="0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D7C588C3-6093-5D04-637C-77B80EAB45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2995" y="1102555"/>
            <a:ext cx="4426423" cy="2630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28D02567-1529-5595-B43E-822C849CE8D1}"/>
              </a:ext>
            </a:extLst>
          </p:cNvPr>
          <p:cNvSpPr txBox="1"/>
          <p:nvPr/>
        </p:nvSpPr>
        <p:spPr>
          <a:xfrm>
            <a:off x="5679145" y="3763191"/>
            <a:ext cx="484893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Matrice di confusion finale con K-Fold (senza HR e IBI)</a:t>
            </a:r>
            <a:endParaRPr lang="it-IT" dirty="0"/>
          </a:p>
        </p:txBody>
      </p:sp>
      <p:sp>
        <p:nvSpPr>
          <p:cNvPr id="2" name="Google Shape;282;p27">
            <a:extLst>
              <a:ext uri="{FF2B5EF4-FFF2-40B4-BE49-F238E27FC236}">
                <a16:creationId xmlns:a16="http://schemas.microsoft.com/office/drawing/2014/main" id="{898DA238-2E6C-87D9-0684-DDFF77E0BA80}"/>
              </a:ext>
            </a:extLst>
          </p:cNvPr>
          <p:cNvSpPr txBox="1"/>
          <p:nvPr/>
        </p:nvSpPr>
        <p:spPr>
          <a:xfrm>
            <a:off x="571499" y="4600907"/>
            <a:ext cx="4287883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b="1" dirty="0" err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it-IT" sz="135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con LOSO (al posto di K-Fold)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Sono state inoltre testate versioni con LOSO al posto di K-Fold, con </a:t>
            </a:r>
            <a:r>
              <a:rPr lang="it-IT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al posto di </a:t>
            </a:r>
            <a:r>
              <a:rPr lang="it-IT" sz="135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RusBoost</a:t>
            </a:r>
            <a:r>
              <a:rPr lang="it-IT" sz="135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, che non soffrono di Data Leakage ma raggiungono risultati non al livello del Paper.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5DE4265-5AFB-7A9F-7FC9-D05C9DFDE8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7810" y="4190707"/>
            <a:ext cx="4431607" cy="22397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5EFC5A06-B844-15E6-F0F9-A6EAE5150CD7}"/>
              </a:ext>
            </a:extLst>
          </p:cNvPr>
          <p:cNvSpPr txBox="1"/>
          <p:nvPr/>
        </p:nvSpPr>
        <p:spPr>
          <a:xfrm>
            <a:off x="6155268" y="6521703"/>
            <a:ext cx="4223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Matrice di </a:t>
            </a:r>
            <a:r>
              <a:rPr lang="en-US" sz="140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confusioe</a:t>
            </a:r>
            <a:r>
              <a:rPr lang="en-US" sz="14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con </a:t>
            </a:r>
            <a:r>
              <a:rPr lang="en-US" sz="1400" dirty="0" err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GentleBoost</a:t>
            </a:r>
            <a:r>
              <a:rPr lang="en-US" sz="1400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e LOSO</a:t>
            </a:r>
            <a:endParaRPr lang="it-I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1252</Words>
  <Application>Microsoft Office PowerPoint</Application>
  <PresentationFormat>Widescreen</PresentationFormat>
  <Paragraphs>104</Paragraphs>
  <Slides>15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3" baseType="lpstr">
      <vt:lpstr>Arial</vt:lpstr>
      <vt:lpstr>Poppins</vt:lpstr>
      <vt:lpstr>Inter SemiBold</vt:lpstr>
      <vt:lpstr>Poppins SemiBold</vt:lpstr>
      <vt:lpstr>Inter</vt:lpstr>
      <vt:lpstr>Poppins Medium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CARETTI GABRIELE</cp:lastModifiedBy>
  <cp:revision>20</cp:revision>
  <dcterms:modified xsi:type="dcterms:W3CDTF">2026-05-16T17:49:17Z</dcterms:modified>
</cp:coreProperties>
</file>